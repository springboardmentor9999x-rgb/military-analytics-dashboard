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753600" cy="7315200"/>
  <p:notesSz cx="6858000" cy="9144000"/>
  <p:embeddedFontLst>
    <p:embeddedFont>
      <p:font typeface="Barlow" panose="00000500000000000000" pitchFamily="2" charset="0"/>
      <p:regular r:id="rId18"/>
    </p:embeddedFont>
    <p:embeddedFont>
      <p:font typeface="Barlow Bold" panose="020B0604020202020204" charset="0"/>
      <p:regular r:id="rId19"/>
    </p:embeddedFont>
    <p:embeddedFont>
      <p:font typeface="Barlow Semi-Bold" panose="020B0604020202020204" charset="0"/>
      <p:regular r:id="rId20"/>
    </p:embeddedFont>
    <p:embeddedFont>
      <p:font typeface="Canva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5" d="100"/>
          <a:sy n="85" d="100"/>
        </p:scale>
        <p:origin x="121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1783006"/>
            <a:ext cx="8290560" cy="1643925"/>
            <a:chOff x="0" y="0"/>
            <a:chExt cx="11054080" cy="2191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54080" cy="2191903"/>
            </a:xfrm>
            <a:custGeom>
              <a:avLst/>
              <a:gdLst/>
              <a:ahLst/>
              <a:cxnLst/>
              <a:rect l="l" t="t" r="r" b="b"/>
              <a:pathLst>
                <a:path w="11054080" h="2191903">
                  <a:moveTo>
                    <a:pt x="0" y="0"/>
                  </a:moveTo>
                  <a:lnTo>
                    <a:pt x="11054080" y="0"/>
                  </a:lnTo>
                  <a:lnTo>
                    <a:pt x="11054080" y="2191903"/>
                  </a:lnTo>
                  <a:lnTo>
                    <a:pt x="0" y="21919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054080" cy="2201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6C9286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Unified Military Analytics &amp; Comparison Dashboard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54480" y="4191000"/>
            <a:ext cx="664464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Task 4 – Dashboard Planning &amp; KPI Mapping</a:t>
            </a:r>
          </a:p>
          <a:p>
            <a:pPr algn="ctr">
              <a:lnSpc>
                <a:spcPts val="4095"/>
              </a:lnSpc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Tool: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Dataset &amp; KPI Foundation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52600"/>
            <a:ext cx="8595360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Dataset: Global Military Data (140+ countries)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Indicators: Military, Economic, Geographic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Derived KPIs: Assets per Capita, Budget/GDP, Personnel Density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Helper Column: Total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Architecture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52600"/>
            <a:ext cx="8595360" cy="360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1. Quick Stats – Global overview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2. Nation Overview – Single country deep dive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3. Compare Powers – Two-country comparison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4. Coalition Builder – Multi-country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1 – Quick Stats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52600"/>
            <a:ext cx="8595360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KPIs: Power Index Rank, Assets per Capita, Military Burden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Charts: Bar chart (Top 10 countries), World map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Table: Country-wise summary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Filters: Region, Continent, Alliance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15039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3"/>
                </a:lnSpc>
              </a:pPr>
              <a:r>
                <a:rPr lang="en-US" sz="2986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1: Quick Stats (Global Overview)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0278" y="1668996"/>
            <a:ext cx="2155955" cy="1197305"/>
            <a:chOff x="0" y="0"/>
            <a:chExt cx="2874607" cy="1596407"/>
          </a:xfrm>
        </p:grpSpPr>
        <p:sp>
          <p:nvSpPr>
            <p:cNvPr id="6" name="Freeform 6"/>
            <p:cNvSpPr/>
            <p:nvPr/>
          </p:nvSpPr>
          <p:spPr>
            <a:xfrm>
              <a:off x="6731" y="8177"/>
              <a:ext cx="2861056" cy="1579944"/>
            </a:xfrm>
            <a:custGeom>
              <a:avLst/>
              <a:gdLst/>
              <a:ahLst/>
              <a:cxnLst/>
              <a:rect l="l" t="t" r="r" b="b"/>
              <a:pathLst>
                <a:path w="2861056" h="1579944">
                  <a:moveTo>
                    <a:pt x="0" y="0"/>
                  </a:moveTo>
                  <a:lnTo>
                    <a:pt x="2861056" y="0"/>
                  </a:lnTo>
                  <a:lnTo>
                    <a:pt x="2861056" y="1579944"/>
                  </a:lnTo>
                  <a:lnTo>
                    <a:pt x="0" y="1579944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874518" cy="1596299"/>
            </a:xfrm>
            <a:custGeom>
              <a:avLst/>
              <a:gdLst/>
              <a:ahLst/>
              <a:cxnLst/>
              <a:rect l="l" t="t" r="r" b="b"/>
              <a:pathLst>
                <a:path w="2874518" h="1596299">
                  <a:moveTo>
                    <a:pt x="6731" y="0"/>
                  </a:moveTo>
                  <a:lnTo>
                    <a:pt x="2867787" y="0"/>
                  </a:lnTo>
                  <a:cubicBezTo>
                    <a:pt x="2871470" y="0"/>
                    <a:pt x="2874518" y="3703"/>
                    <a:pt x="2874518" y="8177"/>
                  </a:cubicBezTo>
                  <a:lnTo>
                    <a:pt x="2874518" y="1588121"/>
                  </a:lnTo>
                  <a:cubicBezTo>
                    <a:pt x="2874518" y="1592596"/>
                    <a:pt x="2871470" y="1596299"/>
                    <a:pt x="2867787" y="1596299"/>
                  </a:cubicBezTo>
                  <a:lnTo>
                    <a:pt x="6731" y="1596299"/>
                  </a:lnTo>
                  <a:cubicBezTo>
                    <a:pt x="3048" y="1596299"/>
                    <a:pt x="0" y="1592596"/>
                    <a:pt x="0" y="1588121"/>
                  </a:cubicBezTo>
                  <a:lnTo>
                    <a:pt x="0" y="8177"/>
                  </a:lnTo>
                  <a:cubicBezTo>
                    <a:pt x="0" y="3703"/>
                    <a:pt x="3048" y="0"/>
                    <a:pt x="6731" y="0"/>
                  </a:cubicBezTo>
                  <a:moveTo>
                    <a:pt x="6731" y="16509"/>
                  </a:moveTo>
                  <a:lnTo>
                    <a:pt x="6731" y="8177"/>
                  </a:lnTo>
                  <a:lnTo>
                    <a:pt x="13462" y="8177"/>
                  </a:lnTo>
                  <a:lnTo>
                    <a:pt x="13462" y="1588121"/>
                  </a:lnTo>
                  <a:lnTo>
                    <a:pt x="6731" y="1588121"/>
                  </a:lnTo>
                  <a:lnTo>
                    <a:pt x="6731" y="1579944"/>
                  </a:lnTo>
                  <a:lnTo>
                    <a:pt x="2867787" y="1579944"/>
                  </a:lnTo>
                  <a:lnTo>
                    <a:pt x="2867787" y="1588121"/>
                  </a:lnTo>
                  <a:lnTo>
                    <a:pt x="2861056" y="1588121"/>
                  </a:lnTo>
                  <a:lnTo>
                    <a:pt x="2861056" y="8177"/>
                  </a:lnTo>
                  <a:lnTo>
                    <a:pt x="2867787" y="8177"/>
                  </a:lnTo>
                  <a:lnTo>
                    <a:pt x="2867787" y="16355"/>
                  </a:lnTo>
                  <a:lnTo>
                    <a:pt x="6731" y="16355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4607" cy="1605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Filter Panel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1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• Region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1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• Continent</a:t>
              </a:r>
            </a:p>
            <a:p>
              <a:pPr algn="l">
                <a:lnSpc>
                  <a:spcPts val="2304"/>
                </a:lnSpc>
              </a:pPr>
              <a:r>
                <a:rPr lang="en-US" sz="1920" b="1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• Alliance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41075" y="1891662"/>
            <a:ext cx="2155955" cy="985520"/>
            <a:chOff x="0" y="0"/>
            <a:chExt cx="2874607" cy="1314027"/>
          </a:xfrm>
        </p:grpSpPr>
        <p:sp>
          <p:nvSpPr>
            <p:cNvPr id="10" name="Freeform 10"/>
            <p:cNvSpPr/>
            <p:nvPr/>
          </p:nvSpPr>
          <p:spPr>
            <a:xfrm>
              <a:off x="6731" y="6731"/>
              <a:ext cx="2861056" cy="1300476"/>
            </a:xfrm>
            <a:custGeom>
              <a:avLst/>
              <a:gdLst/>
              <a:ahLst/>
              <a:cxnLst/>
              <a:rect l="l" t="t" r="r" b="b"/>
              <a:pathLst>
                <a:path w="2861056" h="1300476">
                  <a:moveTo>
                    <a:pt x="0" y="0"/>
                  </a:moveTo>
                  <a:lnTo>
                    <a:pt x="2861056" y="0"/>
                  </a:lnTo>
                  <a:lnTo>
                    <a:pt x="2861056" y="1300476"/>
                  </a:lnTo>
                  <a:lnTo>
                    <a:pt x="0" y="1300476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2874518" cy="1313938"/>
            </a:xfrm>
            <a:custGeom>
              <a:avLst/>
              <a:gdLst/>
              <a:ahLst/>
              <a:cxnLst/>
              <a:rect l="l" t="t" r="r" b="b"/>
              <a:pathLst>
                <a:path w="2874518" h="1313938">
                  <a:moveTo>
                    <a:pt x="6731" y="0"/>
                  </a:moveTo>
                  <a:lnTo>
                    <a:pt x="2867787" y="0"/>
                  </a:lnTo>
                  <a:cubicBezTo>
                    <a:pt x="2871470" y="0"/>
                    <a:pt x="2874518" y="3048"/>
                    <a:pt x="2874518" y="6731"/>
                  </a:cubicBezTo>
                  <a:lnTo>
                    <a:pt x="2874518" y="1307207"/>
                  </a:lnTo>
                  <a:cubicBezTo>
                    <a:pt x="2874518" y="1310890"/>
                    <a:pt x="2871470" y="1313938"/>
                    <a:pt x="2867787" y="1313938"/>
                  </a:cubicBezTo>
                  <a:lnTo>
                    <a:pt x="6731" y="1313938"/>
                  </a:lnTo>
                  <a:cubicBezTo>
                    <a:pt x="3048" y="1313938"/>
                    <a:pt x="0" y="1310890"/>
                    <a:pt x="0" y="1307207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307207"/>
                  </a:lnTo>
                  <a:lnTo>
                    <a:pt x="6731" y="1307207"/>
                  </a:lnTo>
                  <a:lnTo>
                    <a:pt x="6731" y="1300476"/>
                  </a:lnTo>
                  <a:lnTo>
                    <a:pt x="2867787" y="1300476"/>
                  </a:lnTo>
                  <a:lnTo>
                    <a:pt x="2867787" y="1307207"/>
                  </a:lnTo>
                  <a:lnTo>
                    <a:pt x="2861056" y="1307207"/>
                  </a:lnTo>
                  <a:lnTo>
                    <a:pt x="2861056" y="6731"/>
                  </a:lnTo>
                  <a:lnTo>
                    <a:pt x="2867787" y="6731"/>
                  </a:lnTo>
                  <a:lnTo>
                    <a:pt x="2867787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874607" cy="1323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 Card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Avg Assets per Capita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75532" y="1872455"/>
            <a:ext cx="2155955" cy="985520"/>
            <a:chOff x="0" y="0"/>
            <a:chExt cx="2874607" cy="1314027"/>
          </a:xfrm>
        </p:grpSpPr>
        <p:sp>
          <p:nvSpPr>
            <p:cNvPr id="14" name="Freeform 14"/>
            <p:cNvSpPr/>
            <p:nvPr/>
          </p:nvSpPr>
          <p:spPr>
            <a:xfrm>
              <a:off x="6731" y="6731"/>
              <a:ext cx="2861056" cy="1300476"/>
            </a:xfrm>
            <a:custGeom>
              <a:avLst/>
              <a:gdLst/>
              <a:ahLst/>
              <a:cxnLst/>
              <a:rect l="l" t="t" r="r" b="b"/>
              <a:pathLst>
                <a:path w="2861056" h="1300476">
                  <a:moveTo>
                    <a:pt x="0" y="0"/>
                  </a:moveTo>
                  <a:lnTo>
                    <a:pt x="2861056" y="0"/>
                  </a:lnTo>
                  <a:lnTo>
                    <a:pt x="2861056" y="1300476"/>
                  </a:lnTo>
                  <a:lnTo>
                    <a:pt x="0" y="1300476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874518" cy="1313938"/>
            </a:xfrm>
            <a:custGeom>
              <a:avLst/>
              <a:gdLst/>
              <a:ahLst/>
              <a:cxnLst/>
              <a:rect l="l" t="t" r="r" b="b"/>
              <a:pathLst>
                <a:path w="2874518" h="1313938">
                  <a:moveTo>
                    <a:pt x="6731" y="0"/>
                  </a:moveTo>
                  <a:lnTo>
                    <a:pt x="2867787" y="0"/>
                  </a:lnTo>
                  <a:cubicBezTo>
                    <a:pt x="2871470" y="0"/>
                    <a:pt x="2874518" y="3048"/>
                    <a:pt x="2874518" y="6731"/>
                  </a:cubicBezTo>
                  <a:lnTo>
                    <a:pt x="2874518" y="1307207"/>
                  </a:lnTo>
                  <a:cubicBezTo>
                    <a:pt x="2874518" y="1310890"/>
                    <a:pt x="2871470" y="1313938"/>
                    <a:pt x="2867787" y="1313938"/>
                  </a:cubicBezTo>
                  <a:lnTo>
                    <a:pt x="6731" y="1313938"/>
                  </a:lnTo>
                  <a:cubicBezTo>
                    <a:pt x="3048" y="1313938"/>
                    <a:pt x="0" y="1310890"/>
                    <a:pt x="0" y="1307207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307207"/>
                  </a:lnTo>
                  <a:lnTo>
                    <a:pt x="6731" y="1307207"/>
                  </a:lnTo>
                  <a:lnTo>
                    <a:pt x="6731" y="1300476"/>
                  </a:lnTo>
                  <a:lnTo>
                    <a:pt x="2867787" y="1300476"/>
                  </a:lnTo>
                  <a:lnTo>
                    <a:pt x="2867787" y="1307207"/>
                  </a:lnTo>
                  <a:lnTo>
                    <a:pt x="2861056" y="1307207"/>
                  </a:lnTo>
                  <a:lnTo>
                    <a:pt x="2861056" y="6731"/>
                  </a:lnTo>
                  <a:lnTo>
                    <a:pt x="2867787" y="6731"/>
                  </a:lnTo>
                  <a:lnTo>
                    <a:pt x="2867787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874607" cy="1323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 Card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Avg Budget / GDP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16329" y="1865311"/>
            <a:ext cx="2155955" cy="985520"/>
            <a:chOff x="0" y="0"/>
            <a:chExt cx="2874607" cy="1314027"/>
          </a:xfrm>
        </p:grpSpPr>
        <p:sp>
          <p:nvSpPr>
            <p:cNvPr id="18" name="Freeform 18"/>
            <p:cNvSpPr/>
            <p:nvPr/>
          </p:nvSpPr>
          <p:spPr>
            <a:xfrm>
              <a:off x="6731" y="6731"/>
              <a:ext cx="2861056" cy="1300476"/>
            </a:xfrm>
            <a:custGeom>
              <a:avLst/>
              <a:gdLst/>
              <a:ahLst/>
              <a:cxnLst/>
              <a:rect l="l" t="t" r="r" b="b"/>
              <a:pathLst>
                <a:path w="2861056" h="1300476">
                  <a:moveTo>
                    <a:pt x="0" y="0"/>
                  </a:moveTo>
                  <a:lnTo>
                    <a:pt x="2861056" y="0"/>
                  </a:lnTo>
                  <a:lnTo>
                    <a:pt x="2861056" y="1300476"/>
                  </a:lnTo>
                  <a:lnTo>
                    <a:pt x="0" y="1300476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2874518" cy="1313938"/>
            </a:xfrm>
            <a:custGeom>
              <a:avLst/>
              <a:gdLst/>
              <a:ahLst/>
              <a:cxnLst/>
              <a:rect l="l" t="t" r="r" b="b"/>
              <a:pathLst>
                <a:path w="2874518" h="1313938">
                  <a:moveTo>
                    <a:pt x="6731" y="0"/>
                  </a:moveTo>
                  <a:lnTo>
                    <a:pt x="2867787" y="0"/>
                  </a:lnTo>
                  <a:cubicBezTo>
                    <a:pt x="2871470" y="0"/>
                    <a:pt x="2874518" y="3048"/>
                    <a:pt x="2874518" y="6731"/>
                  </a:cubicBezTo>
                  <a:lnTo>
                    <a:pt x="2874518" y="1307207"/>
                  </a:lnTo>
                  <a:cubicBezTo>
                    <a:pt x="2874518" y="1310890"/>
                    <a:pt x="2871470" y="1313938"/>
                    <a:pt x="2867787" y="1313938"/>
                  </a:cubicBezTo>
                  <a:lnTo>
                    <a:pt x="6731" y="1313938"/>
                  </a:lnTo>
                  <a:cubicBezTo>
                    <a:pt x="3048" y="1313938"/>
                    <a:pt x="0" y="1310890"/>
                    <a:pt x="0" y="1307207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307207"/>
                  </a:lnTo>
                  <a:lnTo>
                    <a:pt x="6731" y="1307207"/>
                  </a:lnTo>
                  <a:lnTo>
                    <a:pt x="6731" y="1300476"/>
                  </a:lnTo>
                  <a:lnTo>
                    <a:pt x="2867787" y="1300476"/>
                  </a:lnTo>
                  <a:lnTo>
                    <a:pt x="2867787" y="1307207"/>
                  </a:lnTo>
                  <a:lnTo>
                    <a:pt x="2861056" y="1307207"/>
                  </a:lnTo>
                  <a:lnTo>
                    <a:pt x="2861056" y="6731"/>
                  </a:lnTo>
                  <a:lnTo>
                    <a:pt x="2867787" y="6731"/>
                  </a:lnTo>
                  <a:lnTo>
                    <a:pt x="2867787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2874607" cy="1323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 Card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Avg Military Burden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5629" y="3130587"/>
            <a:ext cx="4691891" cy="2155952"/>
            <a:chOff x="0" y="0"/>
            <a:chExt cx="6255855" cy="2874603"/>
          </a:xfrm>
        </p:grpSpPr>
        <p:sp>
          <p:nvSpPr>
            <p:cNvPr id="22" name="Freeform 22"/>
            <p:cNvSpPr/>
            <p:nvPr/>
          </p:nvSpPr>
          <p:spPr>
            <a:xfrm>
              <a:off x="6731" y="6731"/>
              <a:ext cx="6242304" cy="2861052"/>
            </a:xfrm>
            <a:custGeom>
              <a:avLst/>
              <a:gdLst/>
              <a:ahLst/>
              <a:cxnLst/>
              <a:rect l="l" t="t" r="r" b="b"/>
              <a:pathLst>
                <a:path w="6242304" h="2861052">
                  <a:moveTo>
                    <a:pt x="0" y="0"/>
                  </a:moveTo>
                  <a:lnTo>
                    <a:pt x="6242304" y="0"/>
                  </a:lnTo>
                  <a:lnTo>
                    <a:pt x="6242304" y="2861052"/>
                  </a:lnTo>
                  <a:lnTo>
                    <a:pt x="0" y="2861052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6255766" cy="2874514"/>
            </a:xfrm>
            <a:custGeom>
              <a:avLst/>
              <a:gdLst/>
              <a:ahLst/>
              <a:cxnLst/>
              <a:rect l="l" t="t" r="r" b="b"/>
              <a:pathLst>
                <a:path w="6255766" h="2874514">
                  <a:moveTo>
                    <a:pt x="6731" y="0"/>
                  </a:moveTo>
                  <a:lnTo>
                    <a:pt x="6249035" y="0"/>
                  </a:lnTo>
                  <a:cubicBezTo>
                    <a:pt x="6252718" y="0"/>
                    <a:pt x="6255766" y="3048"/>
                    <a:pt x="6255766" y="6731"/>
                  </a:cubicBezTo>
                  <a:lnTo>
                    <a:pt x="6255766" y="2867783"/>
                  </a:lnTo>
                  <a:cubicBezTo>
                    <a:pt x="6255766" y="2871466"/>
                    <a:pt x="6252718" y="2874514"/>
                    <a:pt x="6249035" y="2874514"/>
                  </a:cubicBezTo>
                  <a:lnTo>
                    <a:pt x="6731" y="2874514"/>
                  </a:lnTo>
                  <a:cubicBezTo>
                    <a:pt x="3048" y="2874514"/>
                    <a:pt x="0" y="2871466"/>
                    <a:pt x="0" y="286778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867783"/>
                  </a:lnTo>
                  <a:lnTo>
                    <a:pt x="6731" y="2867783"/>
                  </a:lnTo>
                  <a:lnTo>
                    <a:pt x="6731" y="2861052"/>
                  </a:lnTo>
                  <a:lnTo>
                    <a:pt x="6249035" y="2861052"/>
                  </a:lnTo>
                  <a:lnTo>
                    <a:pt x="6249035" y="2867783"/>
                  </a:lnTo>
                  <a:lnTo>
                    <a:pt x="6242304" y="2867783"/>
                  </a:lnTo>
                  <a:lnTo>
                    <a:pt x="6242304" y="6731"/>
                  </a:lnTo>
                  <a:lnTo>
                    <a:pt x="6249035" y="6731"/>
                  </a:lnTo>
                  <a:lnTo>
                    <a:pt x="6249035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6255855" cy="288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Bar Chart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Top 10 Countries by Power Index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71228" y="3130587"/>
            <a:ext cx="4301747" cy="2155952"/>
            <a:chOff x="0" y="0"/>
            <a:chExt cx="5735663" cy="2874603"/>
          </a:xfrm>
        </p:grpSpPr>
        <p:sp>
          <p:nvSpPr>
            <p:cNvPr id="26" name="Freeform 26"/>
            <p:cNvSpPr/>
            <p:nvPr/>
          </p:nvSpPr>
          <p:spPr>
            <a:xfrm>
              <a:off x="6731" y="6731"/>
              <a:ext cx="5722112" cy="2861052"/>
            </a:xfrm>
            <a:custGeom>
              <a:avLst/>
              <a:gdLst/>
              <a:ahLst/>
              <a:cxnLst/>
              <a:rect l="l" t="t" r="r" b="b"/>
              <a:pathLst>
                <a:path w="5722112" h="2861052">
                  <a:moveTo>
                    <a:pt x="0" y="0"/>
                  </a:moveTo>
                  <a:lnTo>
                    <a:pt x="5722112" y="0"/>
                  </a:lnTo>
                  <a:lnTo>
                    <a:pt x="5722112" y="2861052"/>
                  </a:lnTo>
                  <a:lnTo>
                    <a:pt x="0" y="2861052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5735574" cy="2874514"/>
            </a:xfrm>
            <a:custGeom>
              <a:avLst/>
              <a:gdLst/>
              <a:ahLst/>
              <a:cxnLst/>
              <a:rect l="l" t="t" r="r" b="b"/>
              <a:pathLst>
                <a:path w="5735574" h="2874514">
                  <a:moveTo>
                    <a:pt x="6731" y="0"/>
                  </a:moveTo>
                  <a:lnTo>
                    <a:pt x="5728843" y="0"/>
                  </a:lnTo>
                  <a:cubicBezTo>
                    <a:pt x="5732526" y="0"/>
                    <a:pt x="5735574" y="3048"/>
                    <a:pt x="5735574" y="6731"/>
                  </a:cubicBezTo>
                  <a:lnTo>
                    <a:pt x="5735574" y="2867783"/>
                  </a:lnTo>
                  <a:cubicBezTo>
                    <a:pt x="5735574" y="2871466"/>
                    <a:pt x="5732526" y="2874514"/>
                    <a:pt x="5728843" y="2874514"/>
                  </a:cubicBezTo>
                  <a:lnTo>
                    <a:pt x="6731" y="2874514"/>
                  </a:lnTo>
                  <a:cubicBezTo>
                    <a:pt x="3048" y="2874514"/>
                    <a:pt x="0" y="2871466"/>
                    <a:pt x="0" y="286778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867783"/>
                  </a:lnTo>
                  <a:lnTo>
                    <a:pt x="6731" y="2867783"/>
                  </a:lnTo>
                  <a:lnTo>
                    <a:pt x="6731" y="2861052"/>
                  </a:lnTo>
                  <a:lnTo>
                    <a:pt x="5728843" y="2861052"/>
                  </a:lnTo>
                  <a:lnTo>
                    <a:pt x="5728843" y="2867783"/>
                  </a:lnTo>
                  <a:lnTo>
                    <a:pt x="5722112" y="2867783"/>
                  </a:lnTo>
                  <a:lnTo>
                    <a:pt x="5722112" y="6731"/>
                  </a:lnTo>
                  <a:lnTo>
                    <a:pt x="5728843" y="6731"/>
                  </a:lnTo>
                  <a:lnTo>
                    <a:pt x="5728843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735663" cy="288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Map Chart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Global Military Distribution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7522" y="5528440"/>
            <a:ext cx="6350003" cy="1375664"/>
            <a:chOff x="0" y="0"/>
            <a:chExt cx="8466671" cy="1834219"/>
          </a:xfrm>
        </p:grpSpPr>
        <p:sp>
          <p:nvSpPr>
            <p:cNvPr id="30" name="Freeform 30"/>
            <p:cNvSpPr/>
            <p:nvPr/>
          </p:nvSpPr>
          <p:spPr>
            <a:xfrm>
              <a:off x="6731" y="6731"/>
              <a:ext cx="8453120" cy="1820668"/>
            </a:xfrm>
            <a:custGeom>
              <a:avLst/>
              <a:gdLst/>
              <a:ahLst/>
              <a:cxnLst/>
              <a:rect l="l" t="t" r="r" b="b"/>
              <a:pathLst>
                <a:path w="8453120" h="1820668">
                  <a:moveTo>
                    <a:pt x="0" y="0"/>
                  </a:moveTo>
                  <a:lnTo>
                    <a:pt x="8453120" y="0"/>
                  </a:lnTo>
                  <a:lnTo>
                    <a:pt x="8453120" y="1820668"/>
                  </a:lnTo>
                  <a:lnTo>
                    <a:pt x="0" y="182066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8466582" cy="1834130"/>
            </a:xfrm>
            <a:custGeom>
              <a:avLst/>
              <a:gdLst/>
              <a:ahLst/>
              <a:cxnLst/>
              <a:rect l="l" t="t" r="r" b="b"/>
              <a:pathLst>
                <a:path w="8466582" h="1834130">
                  <a:moveTo>
                    <a:pt x="6731" y="0"/>
                  </a:moveTo>
                  <a:lnTo>
                    <a:pt x="8459851" y="0"/>
                  </a:lnTo>
                  <a:cubicBezTo>
                    <a:pt x="8463534" y="0"/>
                    <a:pt x="8466582" y="3048"/>
                    <a:pt x="8466582" y="6731"/>
                  </a:cubicBezTo>
                  <a:lnTo>
                    <a:pt x="8466582" y="1827399"/>
                  </a:lnTo>
                  <a:cubicBezTo>
                    <a:pt x="8466582" y="1831082"/>
                    <a:pt x="8463534" y="1834130"/>
                    <a:pt x="8459851" y="1834130"/>
                  </a:cubicBezTo>
                  <a:lnTo>
                    <a:pt x="6731" y="1834130"/>
                  </a:lnTo>
                  <a:cubicBezTo>
                    <a:pt x="3048" y="1834130"/>
                    <a:pt x="0" y="1831082"/>
                    <a:pt x="0" y="182739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827399"/>
                  </a:lnTo>
                  <a:lnTo>
                    <a:pt x="6731" y="1827399"/>
                  </a:lnTo>
                  <a:lnTo>
                    <a:pt x="6731" y="1820668"/>
                  </a:lnTo>
                  <a:lnTo>
                    <a:pt x="8459851" y="1820668"/>
                  </a:lnTo>
                  <a:lnTo>
                    <a:pt x="8459851" y="1827399"/>
                  </a:lnTo>
                  <a:lnTo>
                    <a:pt x="8453120" y="1827399"/>
                  </a:lnTo>
                  <a:lnTo>
                    <a:pt x="8453120" y="6731"/>
                  </a:lnTo>
                  <a:lnTo>
                    <a:pt x="8459851" y="6731"/>
                  </a:lnTo>
                  <a:lnTo>
                    <a:pt x="845985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8466671" cy="1843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Table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Country | Rank | Alliance | Assets per Capita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10400" y="5817476"/>
            <a:ext cx="2155955" cy="790448"/>
            <a:chOff x="0" y="0"/>
            <a:chExt cx="2874607" cy="1053931"/>
          </a:xfrm>
        </p:grpSpPr>
        <p:sp>
          <p:nvSpPr>
            <p:cNvPr id="34" name="Freeform 34"/>
            <p:cNvSpPr/>
            <p:nvPr/>
          </p:nvSpPr>
          <p:spPr>
            <a:xfrm>
              <a:off x="6731" y="6731"/>
              <a:ext cx="2861183" cy="1040380"/>
            </a:xfrm>
            <a:custGeom>
              <a:avLst/>
              <a:gdLst/>
              <a:ahLst/>
              <a:cxnLst/>
              <a:rect l="l" t="t" r="r" b="b"/>
              <a:pathLst>
                <a:path w="2861183" h="1040380">
                  <a:moveTo>
                    <a:pt x="0" y="173481"/>
                  </a:moveTo>
                  <a:cubicBezTo>
                    <a:pt x="0" y="77724"/>
                    <a:pt x="78359" y="0"/>
                    <a:pt x="174879" y="0"/>
                  </a:cubicBezTo>
                  <a:lnTo>
                    <a:pt x="2686304" y="0"/>
                  </a:lnTo>
                  <a:cubicBezTo>
                    <a:pt x="2782824" y="0"/>
                    <a:pt x="2861183" y="77597"/>
                    <a:pt x="2861183" y="173354"/>
                  </a:cubicBezTo>
                  <a:lnTo>
                    <a:pt x="2861183" y="867026"/>
                  </a:lnTo>
                  <a:cubicBezTo>
                    <a:pt x="2861183" y="962783"/>
                    <a:pt x="2782951" y="1040380"/>
                    <a:pt x="2686304" y="1040380"/>
                  </a:cubicBezTo>
                  <a:lnTo>
                    <a:pt x="174879" y="1040380"/>
                  </a:lnTo>
                  <a:cubicBezTo>
                    <a:pt x="78359" y="1040380"/>
                    <a:pt x="0" y="962783"/>
                    <a:pt x="0" y="867026"/>
                  </a:cubicBezTo>
                  <a:close/>
                </a:path>
              </a:pathLst>
            </a:custGeom>
            <a:solidFill>
              <a:srgbClr val="5A8CDC"/>
            </a:solidFill>
            <a:ln w="12700">
              <a:solidFill>
                <a:srgbClr val="00000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2874645" cy="1053969"/>
            </a:xfrm>
            <a:custGeom>
              <a:avLst/>
              <a:gdLst/>
              <a:ahLst/>
              <a:cxnLst/>
              <a:rect l="l" t="t" r="r" b="b"/>
              <a:pathLst>
                <a:path w="2874645" h="1053969">
                  <a:moveTo>
                    <a:pt x="0" y="180212"/>
                  </a:moveTo>
                  <a:cubicBezTo>
                    <a:pt x="0" y="80645"/>
                    <a:pt x="81407" y="0"/>
                    <a:pt x="181610" y="0"/>
                  </a:cubicBezTo>
                  <a:lnTo>
                    <a:pt x="2693035" y="0"/>
                  </a:lnTo>
                  <a:lnTo>
                    <a:pt x="2693035" y="6731"/>
                  </a:lnTo>
                  <a:lnTo>
                    <a:pt x="2693035" y="0"/>
                  </a:lnTo>
                  <a:cubicBezTo>
                    <a:pt x="2793238" y="0"/>
                    <a:pt x="2874645" y="80645"/>
                    <a:pt x="2874645" y="180212"/>
                  </a:cubicBezTo>
                  <a:lnTo>
                    <a:pt x="2867914" y="180212"/>
                  </a:lnTo>
                  <a:lnTo>
                    <a:pt x="2874645" y="180212"/>
                  </a:lnTo>
                  <a:lnTo>
                    <a:pt x="2874645" y="873757"/>
                  </a:lnTo>
                  <a:lnTo>
                    <a:pt x="2867914" y="873757"/>
                  </a:lnTo>
                  <a:lnTo>
                    <a:pt x="2874645" y="873757"/>
                  </a:lnTo>
                  <a:cubicBezTo>
                    <a:pt x="2874645" y="973324"/>
                    <a:pt x="2793238" y="1053969"/>
                    <a:pt x="2693035" y="1053969"/>
                  </a:cubicBezTo>
                  <a:lnTo>
                    <a:pt x="2693035" y="1047238"/>
                  </a:lnTo>
                  <a:lnTo>
                    <a:pt x="2693035" y="1053969"/>
                  </a:lnTo>
                  <a:lnTo>
                    <a:pt x="181610" y="1053969"/>
                  </a:lnTo>
                  <a:lnTo>
                    <a:pt x="181610" y="1047238"/>
                  </a:lnTo>
                  <a:lnTo>
                    <a:pt x="181610" y="1053969"/>
                  </a:lnTo>
                  <a:cubicBezTo>
                    <a:pt x="81407" y="1053969"/>
                    <a:pt x="0" y="973324"/>
                    <a:pt x="0" y="873757"/>
                  </a:cubicBezTo>
                  <a:lnTo>
                    <a:pt x="0" y="180212"/>
                  </a:lnTo>
                  <a:lnTo>
                    <a:pt x="6731" y="180212"/>
                  </a:lnTo>
                  <a:lnTo>
                    <a:pt x="0" y="180212"/>
                  </a:lnTo>
                  <a:moveTo>
                    <a:pt x="13589" y="180212"/>
                  </a:moveTo>
                  <a:lnTo>
                    <a:pt x="13589" y="873757"/>
                  </a:lnTo>
                  <a:lnTo>
                    <a:pt x="6731" y="873757"/>
                  </a:lnTo>
                  <a:lnTo>
                    <a:pt x="13462" y="873757"/>
                  </a:lnTo>
                  <a:cubicBezTo>
                    <a:pt x="13462" y="965704"/>
                    <a:pt x="88646" y="1040380"/>
                    <a:pt x="181483" y="1040380"/>
                  </a:cubicBezTo>
                  <a:lnTo>
                    <a:pt x="2693035" y="1040380"/>
                  </a:lnTo>
                  <a:cubicBezTo>
                    <a:pt x="2785872" y="1040380"/>
                    <a:pt x="2861056" y="965704"/>
                    <a:pt x="2861056" y="873757"/>
                  </a:cubicBezTo>
                  <a:lnTo>
                    <a:pt x="2861056" y="180212"/>
                  </a:lnTo>
                  <a:cubicBezTo>
                    <a:pt x="2861056" y="88265"/>
                    <a:pt x="2785872" y="13589"/>
                    <a:pt x="2693035" y="13589"/>
                  </a:cubicBezTo>
                  <a:lnTo>
                    <a:pt x="181610" y="13589"/>
                  </a:lnTo>
                  <a:lnTo>
                    <a:pt x="181610" y="6731"/>
                  </a:lnTo>
                  <a:lnTo>
                    <a:pt x="181610" y="13462"/>
                  </a:lnTo>
                  <a:cubicBezTo>
                    <a:pt x="88773" y="13589"/>
                    <a:pt x="13589" y="88138"/>
                    <a:pt x="13589" y="180212"/>
                  </a:cubicBezTo>
                  <a:close/>
                </a:path>
              </a:pathLst>
            </a:custGeom>
            <a:solidFill>
              <a:srgbClr val="5A8CDC"/>
            </a:solidFill>
            <a:ln w="12700">
              <a:solidFill>
                <a:srgbClr val="00000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2874607" cy="106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>
                  <a:solidFill>
                    <a:srgbClr val="F7F7F7"/>
                  </a:solidFill>
                  <a:latin typeface="Barlow"/>
                  <a:ea typeface="Barlow"/>
                  <a:cs typeface="Barlow"/>
                  <a:sym typeface="Barlow"/>
                </a:rPr>
                <a:t>Go to Nation Overview →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6234" y="976625"/>
            <a:ext cx="6029268" cy="691480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30060" y="664845"/>
            <a:ext cx="20166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 Chart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21835" y="664845"/>
            <a:ext cx="22092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Map Chart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609600"/>
            <a:ext cx="6251743" cy="6914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2 – Nation Overview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52600"/>
            <a:ext cx="8595360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KPIs: Power Index Rank, Budget per Soldier, Air Power Ratio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Charts: Bar chart (assets), Radar chart (capabilities)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Table: Detailed country metrics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Filter: Country selector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3"/>
                </a:lnSpc>
              </a:pPr>
              <a:r>
                <a:rPr lang="en-US" sz="2986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2: Nation Overview (Single Country)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4991" y="1847226"/>
            <a:ext cx="2936243" cy="790448"/>
            <a:chOff x="0" y="0"/>
            <a:chExt cx="3914991" cy="1053931"/>
          </a:xfrm>
        </p:grpSpPr>
        <p:sp>
          <p:nvSpPr>
            <p:cNvPr id="6" name="Freeform 6"/>
            <p:cNvSpPr/>
            <p:nvPr/>
          </p:nvSpPr>
          <p:spPr>
            <a:xfrm>
              <a:off x="6731" y="6731"/>
              <a:ext cx="3901440" cy="1040380"/>
            </a:xfrm>
            <a:custGeom>
              <a:avLst/>
              <a:gdLst/>
              <a:ahLst/>
              <a:cxnLst/>
              <a:rect l="l" t="t" r="r" b="b"/>
              <a:pathLst>
                <a:path w="3901440" h="1040380">
                  <a:moveTo>
                    <a:pt x="0" y="0"/>
                  </a:moveTo>
                  <a:lnTo>
                    <a:pt x="3901440" y="0"/>
                  </a:lnTo>
                  <a:lnTo>
                    <a:pt x="3901440" y="1040380"/>
                  </a:lnTo>
                  <a:lnTo>
                    <a:pt x="0" y="1040380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914902" cy="1053842"/>
            </a:xfrm>
            <a:custGeom>
              <a:avLst/>
              <a:gdLst/>
              <a:ahLst/>
              <a:cxnLst/>
              <a:rect l="l" t="t" r="r" b="b"/>
              <a:pathLst>
                <a:path w="3914902" h="1053842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047111"/>
                  </a:lnTo>
                  <a:cubicBezTo>
                    <a:pt x="3914902" y="1050794"/>
                    <a:pt x="3911854" y="1053842"/>
                    <a:pt x="3908171" y="1053842"/>
                  </a:cubicBezTo>
                  <a:lnTo>
                    <a:pt x="6731" y="1053842"/>
                  </a:lnTo>
                  <a:cubicBezTo>
                    <a:pt x="3048" y="1053842"/>
                    <a:pt x="0" y="1050794"/>
                    <a:pt x="0" y="104711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047111"/>
                  </a:lnTo>
                  <a:lnTo>
                    <a:pt x="6731" y="1047111"/>
                  </a:lnTo>
                  <a:lnTo>
                    <a:pt x="6731" y="1040380"/>
                  </a:lnTo>
                  <a:lnTo>
                    <a:pt x="3908171" y="1040380"/>
                  </a:lnTo>
                  <a:lnTo>
                    <a:pt x="3908171" y="1047111"/>
                  </a:lnTo>
                  <a:lnTo>
                    <a:pt x="3901440" y="1047111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3914991" cy="106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Dropdown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Select Country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451731" y="1840274"/>
            <a:ext cx="1960883" cy="790448"/>
            <a:chOff x="0" y="0"/>
            <a:chExt cx="2614511" cy="1053931"/>
          </a:xfrm>
        </p:grpSpPr>
        <p:sp>
          <p:nvSpPr>
            <p:cNvPr id="10" name="Freeform 10"/>
            <p:cNvSpPr/>
            <p:nvPr/>
          </p:nvSpPr>
          <p:spPr>
            <a:xfrm>
              <a:off x="6731" y="6731"/>
              <a:ext cx="2600960" cy="1040380"/>
            </a:xfrm>
            <a:custGeom>
              <a:avLst/>
              <a:gdLst/>
              <a:ahLst/>
              <a:cxnLst/>
              <a:rect l="l" t="t" r="r" b="b"/>
              <a:pathLst>
                <a:path w="2600960" h="1040380">
                  <a:moveTo>
                    <a:pt x="0" y="0"/>
                  </a:moveTo>
                  <a:lnTo>
                    <a:pt x="2600960" y="0"/>
                  </a:lnTo>
                  <a:lnTo>
                    <a:pt x="2600960" y="1040380"/>
                  </a:lnTo>
                  <a:lnTo>
                    <a:pt x="0" y="1040380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2614422" cy="1053842"/>
            </a:xfrm>
            <a:custGeom>
              <a:avLst/>
              <a:gdLst/>
              <a:ahLst/>
              <a:cxnLst/>
              <a:rect l="l" t="t" r="r" b="b"/>
              <a:pathLst>
                <a:path w="2614422" h="1053842">
                  <a:moveTo>
                    <a:pt x="6731" y="0"/>
                  </a:moveTo>
                  <a:lnTo>
                    <a:pt x="2607691" y="0"/>
                  </a:lnTo>
                  <a:cubicBezTo>
                    <a:pt x="2611374" y="0"/>
                    <a:pt x="2614422" y="3048"/>
                    <a:pt x="2614422" y="6731"/>
                  </a:cubicBezTo>
                  <a:lnTo>
                    <a:pt x="2614422" y="1047111"/>
                  </a:lnTo>
                  <a:cubicBezTo>
                    <a:pt x="2614422" y="1050794"/>
                    <a:pt x="2611374" y="1053842"/>
                    <a:pt x="2607691" y="1053842"/>
                  </a:cubicBezTo>
                  <a:lnTo>
                    <a:pt x="6731" y="1053842"/>
                  </a:lnTo>
                  <a:cubicBezTo>
                    <a:pt x="3048" y="1053842"/>
                    <a:pt x="0" y="1050794"/>
                    <a:pt x="0" y="104711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047111"/>
                  </a:lnTo>
                  <a:lnTo>
                    <a:pt x="6731" y="1047111"/>
                  </a:lnTo>
                  <a:lnTo>
                    <a:pt x="6731" y="1040380"/>
                  </a:lnTo>
                  <a:lnTo>
                    <a:pt x="2607691" y="1040380"/>
                  </a:lnTo>
                  <a:lnTo>
                    <a:pt x="2607691" y="1047111"/>
                  </a:lnTo>
                  <a:lnTo>
                    <a:pt x="2600960" y="1047111"/>
                  </a:lnTo>
                  <a:lnTo>
                    <a:pt x="2600960" y="6731"/>
                  </a:lnTo>
                  <a:lnTo>
                    <a:pt x="2607691" y="6731"/>
                  </a:lnTo>
                  <a:lnTo>
                    <a:pt x="26076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614511" cy="106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Power Rank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77358" y="1726052"/>
            <a:ext cx="1960883" cy="911555"/>
            <a:chOff x="0" y="0"/>
            <a:chExt cx="2614511" cy="1215407"/>
          </a:xfrm>
        </p:grpSpPr>
        <p:sp>
          <p:nvSpPr>
            <p:cNvPr id="14" name="Freeform 14"/>
            <p:cNvSpPr/>
            <p:nvPr/>
          </p:nvSpPr>
          <p:spPr>
            <a:xfrm>
              <a:off x="6731" y="7762"/>
              <a:ext cx="2600960" cy="1199780"/>
            </a:xfrm>
            <a:custGeom>
              <a:avLst/>
              <a:gdLst/>
              <a:ahLst/>
              <a:cxnLst/>
              <a:rect l="l" t="t" r="r" b="b"/>
              <a:pathLst>
                <a:path w="2600960" h="1199780">
                  <a:moveTo>
                    <a:pt x="0" y="0"/>
                  </a:moveTo>
                  <a:lnTo>
                    <a:pt x="2600960" y="0"/>
                  </a:lnTo>
                  <a:lnTo>
                    <a:pt x="2600960" y="1199780"/>
                  </a:lnTo>
                  <a:lnTo>
                    <a:pt x="0" y="1199780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614422" cy="1215304"/>
            </a:xfrm>
            <a:custGeom>
              <a:avLst/>
              <a:gdLst/>
              <a:ahLst/>
              <a:cxnLst/>
              <a:rect l="l" t="t" r="r" b="b"/>
              <a:pathLst>
                <a:path w="2614422" h="1215304">
                  <a:moveTo>
                    <a:pt x="6731" y="0"/>
                  </a:moveTo>
                  <a:lnTo>
                    <a:pt x="2607691" y="0"/>
                  </a:lnTo>
                  <a:cubicBezTo>
                    <a:pt x="2611374" y="0"/>
                    <a:pt x="2614422" y="3515"/>
                    <a:pt x="2614422" y="7762"/>
                  </a:cubicBezTo>
                  <a:lnTo>
                    <a:pt x="2614422" y="1207542"/>
                  </a:lnTo>
                  <a:cubicBezTo>
                    <a:pt x="2614422" y="1211789"/>
                    <a:pt x="2611374" y="1215304"/>
                    <a:pt x="2607691" y="1215304"/>
                  </a:cubicBezTo>
                  <a:lnTo>
                    <a:pt x="6731" y="1215304"/>
                  </a:lnTo>
                  <a:cubicBezTo>
                    <a:pt x="3048" y="1215304"/>
                    <a:pt x="0" y="1211789"/>
                    <a:pt x="0" y="1207542"/>
                  </a:cubicBezTo>
                  <a:lnTo>
                    <a:pt x="0" y="7762"/>
                  </a:lnTo>
                  <a:cubicBezTo>
                    <a:pt x="0" y="3515"/>
                    <a:pt x="3048" y="0"/>
                    <a:pt x="6731" y="0"/>
                  </a:cubicBezTo>
                  <a:moveTo>
                    <a:pt x="6731" y="15671"/>
                  </a:moveTo>
                  <a:lnTo>
                    <a:pt x="6731" y="7762"/>
                  </a:lnTo>
                  <a:lnTo>
                    <a:pt x="13462" y="7762"/>
                  </a:lnTo>
                  <a:lnTo>
                    <a:pt x="13462" y="1207542"/>
                  </a:lnTo>
                  <a:lnTo>
                    <a:pt x="6731" y="1207542"/>
                  </a:lnTo>
                  <a:lnTo>
                    <a:pt x="6731" y="1199780"/>
                  </a:lnTo>
                  <a:lnTo>
                    <a:pt x="2607691" y="1199780"/>
                  </a:lnTo>
                  <a:lnTo>
                    <a:pt x="2607691" y="1207542"/>
                  </a:lnTo>
                  <a:lnTo>
                    <a:pt x="2600960" y="1207542"/>
                  </a:lnTo>
                  <a:lnTo>
                    <a:pt x="2600960" y="7762"/>
                  </a:lnTo>
                  <a:lnTo>
                    <a:pt x="2607691" y="7762"/>
                  </a:lnTo>
                  <a:lnTo>
                    <a:pt x="2607691" y="15524"/>
                  </a:lnTo>
                  <a:lnTo>
                    <a:pt x="6731" y="15524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614511" cy="1224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Assets per Capita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97764" y="1836702"/>
            <a:ext cx="1960883" cy="790448"/>
            <a:chOff x="0" y="0"/>
            <a:chExt cx="2614511" cy="1053931"/>
          </a:xfrm>
        </p:grpSpPr>
        <p:sp>
          <p:nvSpPr>
            <p:cNvPr id="18" name="Freeform 18"/>
            <p:cNvSpPr/>
            <p:nvPr/>
          </p:nvSpPr>
          <p:spPr>
            <a:xfrm>
              <a:off x="6731" y="6731"/>
              <a:ext cx="2600960" cy="1040380"/>
            </a:xfrm>
            <a:custGeom>
              <a:avLst/>
              <a:gdLst/>
              <a:ahLst/>
              <a:cxnLst/>
              <a:rect l="l" t="t" r="r" b="b"/>
              <a:pathLst>
                <a:path w="2600960" h="1040380">
                  <a:moveTo>
                    <a:pt x="0" y="0"/>
                  </a:moveTo>
                  <a:lnTo>
                    <a:pt x="2600960" y="0"/>
                  </a:lnTo>
                  <a:lnTo>
                    <a:pt x="2600960" y="1040380"/>
                  </a:lnTo>
                  <a:lnTo>
                    <a:pt x="0" y="1040380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2614422" cy="1053842"/>
            </a:xfrm>
            <a:custGeom>
              <a:avLst/>
              <a:gdLst/>
              <a:ahLst/>
              <a:cxnLst/>
              <a:rect l="l" t="t" r="r" b="b"/>
              <a:pathLst>
                <a:path w="2614422" h="1053842">
                  <a:moveTo>
                    <a:pt x="6731" y="0"/>
                  </a:moveTo>
                  <a:lnTo>
                    <a:pt x="2607691" y="0"/>
                  </a:lnTo>
                  <a:cubicBezTo>
                    <a:pt x="2611374" y="0"/>
                    <a:pt x="2614422" y="3048"/>
                    <a:pt x="2614422" y="6731"/>
                  </a:cubicBezTo>
                  <a:lnTo>
                    <a:pt x="2614422" y="1047111"/>
                  </a:lnTo>
                  <a:cubicBezTo>
                    <a:pt x="2614422" y="1050794"/>
                    <a:pt x="2611374" y="1053842"/>
                    <a:pt x="2607691" y="1053842"/>
                  </a:cubicBezTo>
                  <a:lnTo>
                    <a:pt x="6731" y="1053842"/>
                  </a:lnTo>
                  <a:cubicBezTo>
                    <a:pt x="3048" y="1053842"/>
                    <a:pt x="0" y="1050794"/>
                    <a:pt x="0" y="104711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047111"/>
                  </a:lnTo>
                  <a:lnTo>
                    <a:pt x="6731" y="1047111"/>
                  </a:lnTo>
                  <a:lnTo>
                    <a:pt x="6731" y="1040380"/>
                  </a:lnTo>
                  <a:lnTo>
                    <a:pt x="2607691" y="1040380"/>
                  </a:lnTo>
                  <a:lnTo>
                    <a:pt x="2607691" y="1047111"/>
                  </a:lnTo>
                  <a:lnTo>
                    <a:pt x="2600960" y="1047111"/>
                  </a:lnTo>
                  <a:lnTo>
                    <a:pt x="2600960" y="6731"/>
                  </a:lnTo>
                  <a:lnTo>
                    <a:pt x="2607691" y="6731"/>
                  </a:lnTo>
                  <a:lnTo>
                    <a:pt x="26076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2614511" cy="106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Budget / Soldier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7531" y="2979893"/>
            <a:ext cx="4399283" cy="2155952"/>
            <a:chOff x="0" y="0"/>
            <a:chExt cx="5865711" cy="2874603"/>
          </a:xfrm>
        </p:grpSpPr>
        <p:sp>
          <p:nvSpPr>
            <p:cNvPr id="22" name="Freeform 22"/>
            <p:cNvSpPr/>
            <p:nvPr/>
          </p:nvSpPr>
          <p:spPr>
            <a:xfrm>
              <a:off x="6731" y="6731"/>
              <a:ext cx="5852160" cy="2861052"/>
            </a:xfrm>
            <a:custGeom>
              <a:avLst/>
              <a:gdLst/>
              <a:ahLst/>
              <a:cxnLst/>
              <a:rect l="l" t="t" r="r" b="b"/>
              <a:pathLst>
                <a:path w="5852160" h="2861052">
                  <a:moveTo>
                    <a:pt x="0" y="0"/>
                  </a:moveTo>
                  <a:lnTo>
                    <a:pt x="5852160" y="0"/>
                  </a:lnTo>
                  <a:lnTo>
                    <a:pt x="5852160" y="2861052"/>
                  </a:lnTo>
                  <a:lnTo>
                    <a:pt x="0" y="2861052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5865622" cy="2874514"/>
            </a:xfrm>
            <a:custGeom>
              <a:avLst/>
              <a:gdLst/>
              <a:ahLst/>
              <a:cxnLst/>
              <a:rect l="l" t="t" r="r" b="b"/>
              <a:pathLst>
                <a:path w="5865622" h="2874514">
                  <a:moveTo>
                    <a:pt x="6731" y="0"/>
                  </a:moveTo>
                  <a:lnTo>
                    <a:pt x="5858891" y="0"/>
                  </a:lnTo>
                  <a:cubicBezTo>
                    <a:pt x="5862574" y="0"/>
                    <a:pt x="5865622" y="3048"/>
                    <a:pt x="5865622" y="6731"/>
                  </a:cubicBezTo>
                  <a:lnTo>
                    <a:pt x="5865622" y="2867783"/>
                  </a:lnTo>
                  <a:cubicBezTo>
                    <a:pt x="5865622" y="2871466"/>
                    <a:pt x="5862574" y="2874514"/>
                    <a:pt x="5858891" y="2874514"/>
                  </a:cubicBezTo>
                  <a:lnTo>
                    <a:pt x="6731" y="2874514"/>
                  </a:lnTo>
                  <a:cubicBezTo>
                    <a:pt x="3048" y="2874514"/>
                    <a:pt x="0" y="2871466"/>
                    <a:pt x="0" y="286778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867783"/>
                  </a:lnTo>
                  <a:lnTo>
                    <a:pt x="6731" y="2867783"/>
                  </a:lnTo>
                  <a:lnTo>
                    <a:pt x="6731" y="2861052"/>
                  </a:lnTo>
                  <a:lnTo>
                    <a:pt x="5858891" y="2861052"/>
                  </a:lnTo>
                  <a:lnTo>
                    <a:pt x="5858891" y="2867783"/>
                  </a:lnTo>
                  <a:lnTo>
                    <a:pt x="5852160" y="2867783"/>
                  </a:lnTo>
                  <a:lnTo>
                    <a:pt x="5852160" y="6731"/>
                  </a:lnTo>
                  <a:lnTo>
                    <a:pt x="5858891" y="6731"/>
                  </a:lnTo>
                  <a:lnTo>
                    <a:pt x="58588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5865711" cy="288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Bar Chart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Aircraft | Armor | Navy | Manpower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876800" y="2981714"/>
            <a:ext cx="4789427" cy="2155952"/>
            <a:chOff x="0" y="0"/>
            <a:chExt cx="6385903" cy="2874603"/>
          </a:xfrm>
        </p:grpSpPr>
        <p:sp>
          <p:nvSpPr>
            <p:cNvPr id="26" name="Freeform 26"/>
            <p:cNvSpPr/>
            <p:nvPr/>
          </p:nvSpPr>
          <p:spPr>
            <a:xfrm>
              <a:off x="6731" y="6731"/>
              <a:ext cx="6372352" cy="2861052"/>
            </a:xfrm>
            <a:custGeom>
              <a:avLst/>
              <a:gdLst/>
              <a:ahLst/>
              <a:cxnLst/>
              <a:rect l="l" t="t" r="r" b="b"/>
              <a:pathLst>
                <a:path w="6372352" h="2861052">
                  <a:moveTo>
                    <a:pt x="0" y="0"/>
                  </a:moveTo>
                  <a:lnTo>
                    <a:pt x="6372352" y="0"/>
                  </a:lnTo>
                  <a:lnTo>
                    <a:pt x="6372352" y="2861052"/>
                  </a:lnTo>
                  <a:lnTo>
                    <a:pt x="0" y="2861052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6385814" cy="2874514"/>
            </a:xfrm>
            <a:custGeom>
              <a:avLst/>
              <a:gdLst/>
              <a:ahLst/>
              <a:cxnLst/>
              <a:rect l="l" t="t" r="r" b="b"/>
              <a:pathLst>
                <a:path w="6385814" h="2874514">
                  <a:moveTo>
                    <a:pt x="6731" y="0"/>
                  </a:moveTo>
                  <a:lnTo>
                    <a:pt x="6379083" y="0"/>
                  </a:lnTo>
                  <a:cubicBezTo>
                    <a:pt x="6382766" y="0"/>
                    <a:pt x="6385814" y="3048"/>
                    <a:pt x="6385814" y="6731"/>
                  </a:cubicBezTo>
                  <a:lnTo>
                    <a:pt x="6385814" y="2867783"/>
                  </a:lnTo>
                  <a:cubicBezTo>
                    <a:pt x="6385814" y="2871466"/>
                    <a:pt x="6382766" y="2874514"/>
                    <a:pt x="6379083" y="2874514"/>
                  </a:cubicBezTo>
                  <a:lnTo>
                    <a:pt x="6731" y="2874514"/>
                  </a:lnTo>
                  <a:cubicBezTo>
                    <a:pt x="3048" y="2874514"/>
                    <a:pt x="0" y="2871466"/>
                    <a:pt x="0" y="286778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867783"/>
                  </a:lnTo>
                  <a:lnTo>
                    <a:pt x="6731" y="2867783"/>
                  </a:lnTo>
                  <a:lnTo>
                    <a:pt x="6731" y="2861052"/>
                  </a:lnTo>
                  <a:lnTo>
                    <a:pt x="6379083" y="2861052"/>
                  </a:lnTo>
                  <a:lnTo>
                    <a:pt x="6379083" y="2867783"/>
                  </a:lnTo>
                  <a:lnTo>
                    <a:pt x="6372352" y="2867783"/>
                  </a:lnTo>
                  <a:lnTo>
                    <a:pt x="6372352" y="6731"/>
                  </a:lnTo>
                  <a:lnTo>
                    <a:pt x="6379083" y="6731"/>
                  </a:lnTo>
                  <a:lnTo>
                    <a:pt x="6379083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6385903" cy="288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Radar Chart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Air | Armor | Naval | Personnel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7531" y="5420389"/>
            <a:ext cx="6837683" cy="1473200"/>
            <a:chOff x="0" y="0"/>
            <a:chExt cx="9116911" cy="1964267"/>
          </a:xfrm>
        </p:grpSpPr>
        <p:sp>
          <p:nvSpPr>
            <p:cNvPr id="30" name="Freeform 30"/>
            <p:cNvSpPr/>
            <p:nvPr/>
          </p:nvSpPr>
          <p:spPr>
            <a:xfrm>
              <a:off x="6731" y="6731"/>
              <a:ext cx="9103360" cy="1950716"/>
            </a:xfrm>
            <a:custGeom>
              <a:avLst/>
              <a:gdLst/>
              <a:ahLst/>
              <a:cxnLst/>
              <a:rect l="l" t="t" r="r" b="b"/>
              <a:pathLst>
                <a:path w="9103360" h="1950716">
                  <a:moveTo>
                    <a:pt x="0" y="0"/>
                  </a:moveTo>
                  <a:lnTo>
                    <a:pt x="9103360" y="0"/>
                  </a:lnTo>
                  <a:lnTo>
                    <a:pt x="9103360" y="1950716"/>
                  </a:lnTo>
                  <a:lnTo>
                    <a:pt x="0" y="1950716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9116822" cy="1964178"/>
            </a:xfrm>
            <a:custGeom>
              <a:avLst/>
              <a:gdLst/>
              <a:ahLst/>
              <a:cxnLst/>
              <a:rect l="l" t="t" r="r" b="b"/>
              <a:pathLst>
                <a:path w="9116822" h="1964178">
                  <a:moveTo>
                    <a:pt x="6731" y="0"/>
                  </a:moveTo>
                  <a:lnTo>
                    <a:pt x="9110091" y="0"/>
                  </a:lnTo>
                  <a:cubicBezTo>
                    <a:pt x="9113774" y="0"/>
                    <a:pt x="9116822" y="3048"/>
                    <a:pt x="9116822" y="6731"/>
                  </a:cubicBezTo>
                  <a:lnTo>
                    <a:pt x="9116822" y="1957447"/>
                  </a:lnTo>
                  <a:cubicBezTo>
                    <a:pt x="9116822" y="1961130"/>
                    <a:pt x="9113774" y="1964178"/>
                    <a:pt x="9110091" y="1964178"/>
                  </a:cubicBezTo>
                  <a:lnTo>
                    <a:pt x="6731" y="1964178"/>
                  </a:lnTo>
                  <a:cubicBezTo>
                    <a:pt x="3048" y="1964178"/>
                    <a:pt x="0" y="1961130"/>
                    <a:pt x="0" y="1957447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957447"/>
                  </a:lnTo>
                  <a:lnTo>
                    <a:pt x="6731" y="1957447"/>
                  </a:lnTo>
                  <a:lnTo>
                    <a:pt x="6731" y="1950716"/>
                  </a:lnTo>
                  <a:lnTo>
                    <a:pt x="9110091" y="1950716"/>
                  </a:lnTo>
                  <a:lnTo>
                    <a:pt x="9110091" y="1957447"/>
                  </a:lnTo>
                  <a:lnTo>
                    <a:pt x="9103360" y="1957447"/>
                  </a:lnTo>
                  <a:lnTo>
                    <a:pt x="9103360" y="6731"/>
                  </a:lnTo>
                  <a:lnTo>
                    <a:pt x="9110091" y="6731"/>
                  </a:lnTo>
                  <a:lnTo>
                    <a:pt x="91100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9116911" cy="1973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Table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Detailed Country Metrics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67600" y="5758193"/>
            <a:ext cx="2155955" cy="790448"/>
            <a:chOff x="0" y="0"/>
            <a:chExt cx="2874607" cy="1053931"/>
          </a:xfrm>
        </p:grpSpPr>
        <p:sp>
          <p:nvSpPr>
            <p:cNvPr id="34" name="Freeform 34"/>
            <p:cNvSpPr/>
            <p:nvPr/>
          </p:nvSpPr>
          <p:spPr>
            <a:xfrm>
              <a:off x="6731" y="6731"/>
              <a:ext cx="2861183" cy="1040380"/>
            </a:xfrm>
            <a:custGeom>
              <a:avLst/>
              <a:gdLst/>
              <a:ahLst/>
              <a:cxnLst/>
              <a:rect l="l" t="t" r="r" b="b"/>
              <a:pathLst>
                <a:path w="2861183" h="1040380">
                  <a:moveTo>
                    <a:pt x="0" y="173481"/>
                  </a:moveTo>
                  <a:cubicBezTo>
                    <a:pt x="0" y="77724"/>
                    <a:pt x="78359" y="0"/>
                    <a:pt x="174879" y="0"/>
                  </a:cubicBezTo>
                  <a:lnTo>
                    <a:pt x="2686304" y="0"/>
                  </a:lnTo>
                  <a:cubicBezTo>
                    <a:pt x="2782824" y="0"/>
                    <a:pt x="2861183" y="77597"/>
                    <a:pt x="2861183" y="173354"/>
                  </a:cubicBezTo>
                  <a:lnTo>
                    <a:pt x="2861183" y="867026"/>
                  </a:lnTo>
                  <a:cubicBezTo>
                    <a:pt x="2861183" y="962783"/>
                    <a:pt x="2782951" y="1040380"/>
                    <a:pt x="2686304" y="1040380"/>
                  </a:cubicBezTo>
                  <a:lnTo>
                    <a:pt x="174879" y="1040380"/>
                  </a:lnTo>
                  <a:cubicBezTo>
                    <a:pt x="78359" y="1040380"/>
                    <a:pt x="0" y="962783"/>
                    <a:pt x="0" y="867026"/>
                  </a:cubicBezTo>
                  <a:close/>
                </a:path>
              </a:pathLst>
            </a:custGeom>
            <a:solidFill>
              <a:srgbClr val="5A8CDC"/>
            </a:solidFill>
            <a:ln w="12700">
              <a:solidFill>
                <a:srgbClr val="00000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2874645" cy="1053969"/>
            </a:xfrm>
            <a:custGeom>
              <a:avLst/>
              <a:gdLst/>
              <a:ahLst/>
              <a:cxnLst/>
              <a:rect l="l" t="t" r="r" b="b"/>
              <a:pathLst>
                <a:path w="2874645" h="1053969">
                  <a:moveTo>
                    <a:pt x="0" y="180212"/>
                  </a:moveTo>
                  <a:cubicBezTo>
                    <a:pt x="0" y="80645"/>
                    <a:pt x="81407" y="0"/>
                    <a:pt x="181610" y="0"/>
                  </a:cubicBezTo>
                  <a:lnTo>
                    <a:pt x="2693035" y="0"/>
                  </a:lnTo>
                  <a:lnTo>
                    <a:pt x="2693035" y="6731"/>
                  </a:lnTo>
                  <a:lnTo>
                    <a:pt x="2693035" y="0"/>
                  </a:lnTo>
                  <a:cubicBezTo>
                    <a:pt x="2793238" y="0"/>
                    <a:pt x="2874645" y="80645"/>
                    <a:pt x="2874645" y="180212"/>
                  </a:cubicBezTo>
                  <a:lnTo>
                    <a:pt x="2867914" y="180212"/>
                  </a:lnTo>
                  <a:lnTo>
                    <a:pt x="2874645" y="180212"/>
                  </a:lnTo>
                  <a:lnTo>
                    <a:pt x="2874645" y="873757"/>
                  </a:lnTo>
                  <a:lnTo>
                    <a:pt x="2867914" y="873757"/>
                  </a:lnTo>
                  <a:lnTo>
                    <a:pt x="2874645" y="873757"/>
                  </a:lnTo>
                  <a:cubicBezTo>
                    <a:pt x="2874645" y="973324"/>
                    <a:pt x="2793238" y="1053969"/>
                    <a:pt x="2693035" y="1053969"/>
                  </a:cubicBezTo>
                  <a:lnTo>
                    <a:pt x="2693035" y="1047238"/>
                  </a:lnTo>
                  <a:lnTo>
                    <a:pt x="2693035" y="1053969"/>
                  </a:lnTo>
                  <a:lnTo>
                    <a:pt x="181610" y="1053969"/>
                  </a:lnTo>
                  <a:lnTo>
                    <a:pt x="181610" y="1047238"/>
                  </a:lnTo>
                  <a:lnTo>
                    <a:pt x="181610" y="1053969"/>
                  </a:lnTo>
                  <a:cubicBezTo>
                    <a:pt x="81407" y="1053969"/>
                    <a:pt x="0" y="973324"/>
                    <a:pt x="0" y="873757"/>
                  </a:cubicBezTo>
                  <a:lnTo>
                    <a:pt x="0" y="180212"/>
                  </a:lnTo>
                  <a:lnTo>
                    <a:pt x="6731" y="180212"/>
                  </a:lnTo>
                  <a:lnTo>
                    <a:pt x="0" y="180212"/>
                  </a:lnTo>
                  <a:moveTo>
                    <a:pt x="13589" y="180212"/>
                  </a:moveTo>
                  <a:lnTo>
                    <a:pt x="13589" y="873757"/>
                  </a:lnTo>
                  <a:lnTo>
                    <a:pt x="6731" y="873757"/>
                  </a:lnTo>
                  <a:lnTo>
                    <a:pt x="13462" y="873757"/>
                  </a:lnTo>
                  <a:cubicBezTo>
                    <a:pt x="13462" y="965704"/>
                    <a:pt x="88646" y="1040380"/>
                    <a:pt x="181483" y="1040380"/>
                  </a:cubicBezTo>
                  <a:lnTo>
                    <a:pt x="2693035" y="1040380"/>
                  </a:lnTo>
                  <a:cubicBezTo>
                    <a:pt x="2785872" y="1040380"/>
                    <a:pt x="2861056" y="965704"/>
                    <a:pt x="2861056" y="873757"/>
                  </a:cubicBezTo>
                  <a:lnTo>
                    <a:pt x="2861056" y="180212"/>
                  </a:lnTo>
                  <a:cubicBezTo>
                    <a:pt x="2861056" y="88265"/>
                    <a:pt x="2785872" y="13589"/>
                    <a:pt x="2693035" y="13589"/>
                  </a:cubicBezTo>
                  <a:lnTo>
                    <a:pt x="181610" y="13589"/>
                  </a:lnTo>
                  <a:lnTo>
                    <a:pt x="181610" y="6731"/>
                  </a:lnTo>
                  <a:lnTo>
                    <a:pt x="181610" y="13462"/>
                  </a:lnTo>
                  <a:cubicBezTo>
                    <a:pt x="88773" y="13589"/>
                    <a:pt x="13589" y="88138"/>
                    <a:pt x="13589" y="180212"/>
                  </a:cubicBezTo>
                  <a:close/>
                </a:path>
              </a:pathLst>
            </a:custGeom>
            <a:solidFill>
              <a:srgbClr val="5A8CDC"/>
            </a:solidFill>
            <a:ln w="12700">
              <a:solidFill>
                <a:srgbClr val="00000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2874607" cy="106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>
                  <a:solidFill>
                    <a:srgbClr val="F7F7F7"/>
                  </a:solidFill>
                  <a:latin typeface="Barlow"/>
                  <a:ea typeface="Barlow"/>
                  <a:cs typeface="Barlow"/>
                  <a:sym typeface="Barlow"/>
                </a:rPr>
                <a:t>Compare Powers →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8570" y="950928"/>
            <a:ext cx="6033940" cy="694284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30060" y="407987"/>
            <a:ext cx="20166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 Chart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72030" y="407987"/>
            <a:ext cx="252734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Radar Chart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817" y="1675136"/>
            <a:ext cx="6005218" cy="4665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3 – Compare Powers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52600"/>
            <a:ext cx="8595360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KPIs: Assets per Capita, Rank Gap, Total Assets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Charts: Side-by-side bars, Rank comparison chart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Table: Country A vs Country B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Filters: Country A, Country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2141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3"/>
                </a:lnSpc>
              </a:pPr>
              <a:r>
                <a:rPr lang="en-US" sz="2986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3: Compare Powers (2 Countries)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2287" y="1592488"/>
            <a:ext cx="2936243" cy="790448"/>
            <a:chOff x="0" y="0"/>
            <a:chExt cx="3914991" cy="1053931"/>
          </a:xfrm>
        </p:grpSpPr>
        <p:sp>
          <p:nvSpPr>
            <p:cNvPr id="6" name="Freeform 6"/>
            <p:cNvSpPr/>
            <p:nvPr/>
          </p:nvSpPr>
          <p:spPr>
            <a:xfrm>
              <a:off x="6731" y="6731"/>
              <a:ext cx="3901440" cy="1040380"/>
            </a:xfrm>
            <a:custGeom>
              <a:avLst/>
              <a:gdLst/>
              <a:ahLst/>
              <a:cxnLst/>
              <a:rect l="l" t="t" r="r" b="b"/>
              <a:pathLst>
                <a:path w="3901440" h="1040380">
                  <a:moveTo>
                    <a:pt x="0" y="0"/>
                  </a:moveTo>
                  <a:lnTo>
                    <a:pt x="3901440" y="0"/>
                  </a:lnTo>
                  <a:lnTo>
                    <a:pt x="3901440" y="1040380"/>
                  </a:lnTo>
                  <a:lnTo>
                    <a:pt x="0" y="1040380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914902" cy="1053842"/>
            </a:xfrm>
            <a:custGeom>
              <a:avLst/>
              <a:gdLst/>
              <a:ahLst/>
              <a:cxnLst/>
              <a:rect l="l" t="t" r="r" b="b"/>
              <a:pathLst>
                <a:path w="3914902" h="1053842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047111"/>
                  </a:lnTo>
                  <a:cubicBezTo>
                    <a:pt x="3914902" y="1050794"/>
                    <a:pt x="3911854" y="1053842"/>
                    <a:pt x="3908171" y="1053842"/>
                  </a:cubicBezTo>
                  <a:lnTo>
                    <a:pt x="6731" y="1053842"/>
                  </a:lnTo>
                  <a:cubicBezTo>
                    <a:pt x="3048" y="1053842"/>
                    <a:pt x="0" y="1050794"/>
                    <a:pt x="0" y="104711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047111"/>
                  </a:lnTo>
                  <a:lnTo>
                    <a:pt x="6731" y="1047111"/>
                  </a:lnTo>
                  <a:lnTo>
                    <a:pt x="6731" y="1040380"/>
                  </a:lnTo>
                  <a:lnTo>
                    <a:pt x="3908171" y="1040380"/>
                  </a:lnTo>
                  <a:lnTo>
                    <a:pt x="3908171" y="1047111"/>
                  </a:lnTo>
                  <a:lnTo>
                    <a:pt x="3901440" y="1047111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3914991" cy="106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Dropdown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Country 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421713" y="1585344"/>
            <a:ext cx="2936243" cy="790448"/>
            <a:chOff x="0" y="0"/>
            <a:chExt cx="3914991" cy="1053931"/>
          </a:xfrm>
        </p:grpSpPr>
        <p:sp>
          <p:nvSpPr>
            <p:cNvPr id="10" name="Freeform 10"/>
            <p:cNvSpPr/>
            <p:nvPr/>
          </p:nvSpPr>
          <p:spPr>
            <a:xfrm>
              <a:off x="6731" y="6731"/>
              <a:ext cx="3901440" cy="1040380"/>
            </a:xfrm>
            <a:custGeom>
              <a:avLst/>
              <a:gdLst/>
              <a:ahLst/>
              <a:cxnLst/>
              <a:rect l="l" t="t" r="r" b="b"/>
              <a:pathLst>
                <a:path w="3901440" h="1040380">
                  <a:moveTo>
                    <a:pt x="0" y="0"/>
                  </a:moveTo>
                  <a:lnTo>
                    <a:pt x="3901440" y="0"/>
                  </a:lnTo>
                  <a:lnTo>
                    <a:pt x="3901440" y="1040380"/>
                  </a:lnTo>
                  <a:lnTo>
                    <a:pt x="0" y="1040380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914902" cy="1053842"/>
            </a:xfrm>
            <a:custGeom>
              <a:avLst/>
              <a:gdLst/>
              <a:ahLst/>
              <a:cxnLst/>
              <a:rect l="l" t="t" r="r" b="b"/>
              <a:pathLst>
                <a:path w="3914902" h="1053842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047111"/>
                  </a:lnTo>
                  <a:cubicBezTo>
                    <a:pt x="3914902" y="1050794"/>
                    <a:pt x="3911854" y="1053842"/>
                    <a:pt x="3908171" y="1053842"/>
                  </a:cubicBezTo>
                  <a:lnTo>
                    <a:pt x="6731" y="1053842"/>
                  </a:lnTo>
                  <a:cubicBezTo>
                    <a:pt x="3048" y="1053842"/>
                    <a:pt x="0" y="1050794"/>
                    <a:pt x="0" y="104711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047111"/>
                  </a:lnTo>
                  <a:lnTo>
                    <a:pt x="6731" y="1047111"/>
                  </a:lnTo>
                  <a:lnTo>
                    <a:pt x="6731" y="1040380"/>
                  </a:lnTo>
                  <a:lnTo>
                    <a:pt x="3908171" y="1040380"/>
                  </a:lnTo>
                  <a:lnTo>
                    <a:pt x="3908171" y="1047111"/>
                  </a:lnTo>
                  <a:lnTo>
                    <a:pt x="3901440" y="1047111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3914991" cy="106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Dropdown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Country 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3955" y="2534813"/>
            <a:ext cx="2936243" cy="887984"/>
            <a:chOff x="0" y="0"/>
            <a:chExt cx="3914991" cy="1183979"/>
          </a:xfrm>
        </p:grpSpPr>
        <p:sp>
          <p:nvSpPr>
            <p:cNvPr id="14" name="Freeform 14"/>
            <p:cNvSpPr/>
            <p:nvPr/>
          </p:nvSpPr>
          <p:spPr>
            <a:xfrm>
              <a:off x="6731" y="6731"/>
              <a:ext cx="3901440" cy="1170428"/>
            </a:xfrm>
            <a:custGeom>
              <a:avLst/>
              <a:gdLst/>
              <a:ahLst/>
              <a:cxnLst/>
              <a:rect l="l" t="t" r="r" b="b"/>
              <a:pathLst>
                <a:path w="3901440" h="1170428">
                  <a:moveTo>
                    <a:pt x="0" y="0"/>
                  </a:moveTo>
                  <a:lnTo>
                    <a:pt x="3901440" y="0"/>
                  </a:lnTo>
                  <a:lnTo>
                    <a:pt x="3901440" y="1170428"/>
                  </a:lnTo>
                  <a:lnTo>
                    <a:pt x="0" y="117042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3914902" cy="1183890"/>
            </a:xfrm>
            <a:custGeom>
              <a:avLst/>
              <a:gdLst/>
              <a:ahLst/>
              <a:cxnLst/>
              <a:rect l="l" t="t" r="r" b="b"/>
              <a:pathLst>
                <a:path w="3914902" h="1183890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177159"/>
                  </a:lnTo>
                  <a:cubicBezTo>
                    <a:pt x="3914902" y="1180842"/>
                    <a:pt x="3911854" y="1183890"/>
                    <a:pt x="3908171" y="1183890"/>
                  </a:cubicBezTo>
                  <a:lnTo>
                    <a:pt x="6731" y="1183890"/>
                  </a:lnTo>
                  <a:cubicBezTo>
                    <a:pt x="3048" y="1183890"/>
                    <a:pt x="0" y="1180842"/>
                    <a:pt x="0" y="117715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77159"/>
                  </a:lnTo>
                  <a:lnTo>
                    <a:pt x="6731" y="1177159"/>
                  </a:lnTo>
                  <a:lnTo>
                    <a:pt x="6731" y="1170428"/>
                  </a:lnTo>
                  <a:lnTo>
                    <a:pt x="3908171" y="1170428"/>
                  </a:lnTo>
                  <a:lnTo>
                    <a:pt x="3908171" y="1177159"/>
                  </a:lnTo>
                  <a:lnTo>
                    <a:pt x="3901440" y="1177159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3914991" cy="119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Assets per Capita (A vs B)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26828" y="2527669"/>
            <a:ext cx="2936243" cy="887984"/>
            <a:chOff x="0" y="0"/>
            <a:chExt cx="3914991" cy="1183979"/>
          </a:xfrm>
        </p:grpSpPr>
        <p:sp>
          <p:nvSpPr>
            <p:cNvPr id="18" name="Freeform 18"/>
            <p:cNvSpPr/>
            <p:nvPr/>
          </p:nvSpPr>
          <p:spPr>
            <a:xfrm>
              <a:off x="6731" y="6731"/>
              <a:ext cx="3901440" cy="1170428"/>
            </a:xfrm>
            <a:custGeom>
              <a:avLst/>
              <a:gdLst/>
              <a:ahLst/>
              <a:cxnLst/>
              <a:rect l="l" t="t" r="r" b="b"/>
              <a:pathLst>
                <a:path w="3901440" h="1170428">
                  <a:moveTo>
                    <a:pt x="0" y="0"/>
                  </a:moveTo>
                  <a:lnTo>
                    <a:pt x="3901440" y="0"/>
                  </a:lnTo>
                  <a:lnTo>
                    <a:pt x="3901440" y="1170428"/>
                  </a:lnTo>
                  <a:lnTo>
                    <a:pt x="0" y="117042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3914902" cy="1183890"/>
            </a:xfrm>
            <a:custGeom>
              <a:avLst/>
              <a:gdLst/>
              <a:ahLst/>
              <a:cxnLst/>
              <a:rect l="l" t="t" r="r" b="b"/>
              <a:pathLst>
                <a:path w="3914902" h="1183890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177159"/>
                  </a:lnTo>
                  <a:cubicBezTo>
                    <a:pt x="3914902" y="1180842"/>
                    <a:pt x="3911854" y="1183890"/>
                    <a:pt x="3908171" y="1183890"/>
                  </a:cubicBezTo>
                  <a:lnTo>
                    <a:pt x="6731" y="1183890"/>
                  </a:lnTo>
                  <a:cubicBezTo>
                    <a:pt x="3048" y="1183890"/>
                    <a:pt x="0" y="1180842"/>
                    <a:pt x="0" y="117715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77159"/>
                  </a:lnTo>
                  <a:lnTo>
                    <a:pt x="6731" y="1177159"/>
                  </a:lnTo>
                  <a:lnTo>
                    <a:pt x="6731" y="1170428"/>
                  </a:lnTo>
                  <a:lnTo>
                    <a:pt x="3908171" y="1170428"/>
                  </a:lnTo>
                  <a:lnTo>
                    <a:pt x="3908171" y="1177159"/>
                  </a:lnTo>
                  <a:lnTo>
                    <a:pt x="3901440" y="1177159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3914991" cy="119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Budget per Soldier (A vs B)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29634" y="2524097"/>
            <a:ext cx="2936243" cy="887984"/>
            <a:chOff x="0" y="0"/>
            <a:chExt cx="3914991" cy="1183979"/>
          </a:xfrm>
        </p:grpSpPr>
        <p:sp>
          <p:nvSpPr>
            <p:cNvPr id="22" name="Freeform 22"/>
            <p:cNvSpPr/>
            <p:nvPr/>
          </p:nvSpPr>
          <p:spPr>
            <a:xfrm>
              <a:off x="6731" y="6731"/>
              <a:ext cx="3901440" cy="1170428"/>
            </a:xfrm>
            <a:custGeom>
              <a:avLst/>
              <a:gdLst/>
              <a:ahLst/>
              <a:cxnLst/>
              <a:rect l="l" t="t" r="r" b="b"/>
              <a:pathLst>
                <a:path w="3901440" h="1170428">
                  <a:moveTo>
                    <a:pt x="0" y="0"/>
                  </a:moveTo>
                  <a:lnTo>
                    <a:pt x="3901440" y="0"/>
                  </a:lnTo>
                  <a:lnTo>
                    <a:pt x="3901440" y="1170428"/>
                  </a:lnTo>
                  <a:lnTo>
                    <a:pt x="0" y="117042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3914902" cy="1183890"/>
            </a:xfrm>
            <a:custGeom>
              <a:avLst/>
              <a:gdLst/>
              <a:ahLst/>
              <a:cxnLst/>
              <a:rect l="l" t="t" r="r" b="b"/>
              <a:pathLst>
                <a:path w="3914902" h="1183890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1177159"/>
                  </a:lnTo>
                  <a:cubicBezTo>
                    <a:pt x="3914902" y="1180842"/>
                    <a:pt x="3911854" y="1183890"/>
                    <a:pt x="3908171" y="1183890"/>
                  </a:cubicBezTo>
                  <a:lnTo>
                    <a:pt x="6731" y="1183890"/>
                  </a:lnTo>
                  <a:cubicBezTo>
                    <a:pt x="3048" y="1183890"/>
                    <a:pt x="0" y="1180842"/>
                    <a:pt x="0" y="117715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77159"/>
                  </a:lnTo>
                  <a:lnTo>
                    <a:pt x="6731" y="1177159"/>
                  </a:lnTo>
                  <a:lnTo>
                    <a:pt x="6731" y="1170428"/>
                  </a:lnTo>
                  <a:lnTo>
                    <a:pt x="3908171" y="1170428"/>
                  </a:lnTo>
                  <a:lnTo>
                    <a:pt x="3908171" y="1177159"/>
                  </a:lnTo>
                  <a:lnTo>
                    <a:pt x="3901440" y="1177159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3914991" cy="119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Rank Gap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23955" y="3657600"/>
            <a:ext cx="6057395" cy="1960880"/>
            <a:chOff x="0" y="0"/>
            <a:chExt cx="8076527" cy="2614507"/>
          </a:xfrm>
        </p:grpSpPr>
        <p:sp>
          <p:nvSpPr>
            <p:cNvPr id="26" name="Freeform 26"/>
            <p:cNvSpPr/>
            <p:nvPr/>
          </p:nvSpPr>
          <p:spPr>
            <a:xfrm>
              <a:off x="6731" y="6731"/>
              <a:ext cx="8062976" cy="2600956"/>
            </a:xfrm>
            <a:custGeom>
              <a:avLst/>
              <a:gdLst/>
              <a:ahLst/>
              <a:cxnLst/>
              <a:rect l="l" t="t" r="r" b="b"/>
              <a:pathLst>
                <a:path w="8062976" h="2600956">
                  <a:moveTo>
                    <a:pt x="0" y="0"/>
                  </a:moveTo>
                  <a:lnTo>
                    <a:pt x="8062976" y="0"/>
                  </a:lnTo>
                  <a:lnTo>
                    <a:pt x="8062976" y="2600956"/>
                  </a:lnTo>
                  <a:lnTo>
                    <a:pt x="0" y="2600956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8076438" cy="2614418"/>
            </a:xfrm>
            <a:custGeom>
              <a:avLst/>
              <a:gdLst/>
              <a:ahLst/>
              <a:cxnLst/>
              <a:rect l="l" t="t" r="r" b="b"/>
              <a:pathLst>
                <a:path w="8076438" h="2614418">
                  <a:moveTo>
                    <a:pt x="6731" y="0"/>
                  </a:moveTo>
                  <a:lnTo>
                    <a:pt x="8069707" y="0"/>
                  </a:lnTo>
                  <a:cubicBezTo>
                    <a:pt x="8073389" y="0"/>
                    <a:pt x="8076438" y="3048"/>
                    <a:pt x="8076438" y="6731"/>
                  </a:cubicBezTo>
                  <a:lnTo>
                    <a:pt x="8076438" y="2607687"/>
                  </a:lnTo>
                  <a:cubicBezTo>
                    <a:pt x="8076438" y="2611370"/>
                    <a:pt x="8073389" y="2614418"/>
                    <a:pt x="8069707" y="2614418"/>
                  </a:cubicBezTo>
                  <a:lnTo>
                    <a:pt x="6731" y="2614418"/>
                  </a:lnTo>
                  <a:cubicBezTo>
                    <a:pt x="3048" y="2614418"/>
                    <a:pt x="0" y="2611370"/>
                    <a:pt x="0" y="2607687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607687"/>
                  </a:lnTo>
                  <a:lnTo>
                    <a:pt x="6731" y="2607687"/>
                  </a:lnTo>
                  <a:lnTo>
                    <a:pt x="6731" y="2600956"/>
                  </a:lnTo>
                  <a:lnTo>
                    <a:pt x="8069707" y="2600956"/>
                  </a:lnTo>
                  <a:lnTo>
                    <a:pt x="8069707" y="2607687"/>
                  </a:lnTo>
                  <a:lnTo>
                    <a:pt x="8062975" y="2607687"/>
                  </a:lnTo>
                  <a:lnTo>
                    <a:pt x="8062975" y="6731"/>
                  </a:lnTo>
                  <a:lnTo>
                    <a:pt x="8069707" y="6731"/>
                  </a:lnTo>
                  <a:lnTo>
                    <a:pt x="8069707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8076527" cy="2624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Side-by-Side Bar Chart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Aircraft | Armor | Navy | Manpower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29400" y="3650456"/>
            <a:ext cx="2936243" cy="1960880"/>
            <a:chOff x="0" y="0"/>
            <a:chExt cx="3914991" cy="2614507"/>
          </a:xfrm>
        </p:grpSpPr>
        <p:sp>
          <p:nvSpPr>
            <p:cNvPr id="30" name="Freeform 30"/>
            <p:cNvSpPr/>
            <p:nvPr/>
          </p:nvSpPr>
          <p:spPr>
            <a:xfrm>
              <a:off x="6731" y="6731"/>
              <a:ext cx="3901440" cy="2600956"/>
            </a:xfrm>
            <a:custGeom>
              <a:avLst/>
              <a:gdLst/>
              <a:ahLst/>
              <a:cxnLst/>
              <a:rect l="l" t="t" r="r" b="b"/>
              <a:pathLst>
                <a:path w="3901440" h="2600956">
                  <a:moveTo>
                    <a:pt x="0" y="0"/>
                  </a:moveTo>
                  <a:lnTo>
                    <a:pt x="3901440" y="0"/>
                  </a:lnTo>
                  <a:lnTo>
                    <a:pt x="3901440" y="2600956"/>
                  </a:lnTo>
                  <a:lnTo>
                    <a:pt x="0" y="2600956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3914902" cy="2614418"/>
            </a:xfrm>
            <a:custGeom>
              <a:avLst/>
              <a:gdLst/>
              <a:ahLst/>
              <a:cxnLst/>
              <a:rect l="l" t="t" r="r" b="b"/>
              <a:pathLst>
                <a:path w="3914902" h="2614418">
                  <a:moveTo>
                    <a:pt x="6731" y="0"/>
                  </a:moveTo>
                  <a:lnTo>
                    <a:pt x="3908171" y="0"/>
                  </a:lnTo>
                  <a:cubicBezTo>
                    <a:pt x="3911854" y="0"/>
                    <a:pt x="3914902" y="3048"/>
                    <a:pt x="3914902" y="6731"/>
                  </a:cubicBezTo>
                  <a:lnTo>
                    <a:pt x="3914902" y="2607687"/>
                  </a:lnTo>
                  <a:cubicBezTo>
                    <a:pt x="3914902" y="2611370"/>
                    <a:pt x="3911854" y="2614418"/>
                    <a:pt x="3908171" y="2614418"/>
                  </a:cubicBezTo>
                  <a:lnTo>
                    <a:pt x="6731" y="2614418"/>
                  </a:lnTo>
                  <a:cubicBezTo>
                    <a:pt x="3048" y="2614418"/>
                    <a:pt x="0" y="2611370"/>
                    <a:pt x="0" y="2607687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607687"/>
                  </a:lnTo>
                  <a:lnTo>
                    <a:pt x="6731" y="2607687"/>
                  </a:lnTo>
                  <a:lnTo>
                    <a:pt x="6731" y="2600956"/>
                  </a:lnTo>
                  <a:lnTo>
                    <a:pt x="3908171" y="2600956"/>
                  </a:lnTo>
                  <a:lnTo>
                    <a:pt x="3908171" y="2607687"/>
                  </a:lnTo>
                  <a:lnTo>
                    <a:pt x="3901440" y="2607687"/>
                  </a:lnTo>
                  <a:lnTo>
                    <a:pt x="3901440" y="6731"/>
                  </a:lnTo>
                  <a:lnTo>
                    <a:pt x="3908171" y="6731"/>
                  </a:lnTo>
                  <a:lnTo>
                    <a:pt x="390817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914991" cy="2624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Bar Chart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Rank Comparison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92013" y="5848801"/>
            <a:ext cx="6837683" cy="1180592"/>
            <a:chOff x="0" y="0"/>
            <a:chExt cx="9116911" cy="1574123"/>
          </a:xfrm>
        </p:grpSpPr>
        <p:sp>
          <p:nvSpPr>
            <p:cNvPr id="34" name="Freeform 34"/>
            <p:cNvSpPr/>
            <p:nvPr/>
          </p:nvSpPr>
          <p:spPr>
            <a:xfrm>
              <a:off x="6731" y="6731"/>
              <a:ext cx="9103360" cy="1560572"/>
            </a:xfrm>
            <a:custGeom>
              <a:avLst/>
              <a:gdLst/>
              <a:ahLst/>
              <a:cxnLst/>
              <a:rect l="l" t="t" r="r" b="b"/>
              <a:pathLst>
                <a:path w="9103360" h="1560572">
                  <a:moveTo>
                    <a:pt x="0" y="0"/>
                  </a:moveTo>
                  <a:lnTo>
                    <a:pt x="9103360" y="0"/>
                  </a:lnTo>
                  <a:lnTo>
                    <a:pt x="9103360" y="1560572"/>
                  </a:lnTo>
                  <a:lnTo>
                    <a:pt x="0" y="1560572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9116822" cy="1574034"/>
            </a:xfrm>
            <a:custGeom>
              <a:avLst/>
              <a:gdLst/>
              <a:ahLst/>
              <a:cxnLst/>
              <a:rect l="l" t="t" r="r" b="b"/>
              <a:pathLst>
                <a:path w="9116822" h="1574034">
                  <a:moveTo>
                    <a:pt x="6731" y="0"/>
                  </a:moveTo>
                  <a:lnTo>
                    <a:pt x="9110091" y="0"/>
                  </a:lnTo>
                  <a:cubicBezTo>
                    <a:pt x="9113774" y="0"/>
                    <a:pt x="9116822" y="3048"/>
                    <a:pt x="9116822" y="6731"/>
                  </a:cubicBezTo>
                  <a:lnTo>
                    <a:pt x="9116822" y="1567303"/>
                  </a:lnTo>
                  <a:cubicBezTo>
                    <a:pt x="9116822" y="1570986"/>
                    <a:pt x="9113774" y="1574034"/>
                    <a:pt x="9110091" y="1574034"/>
                  </a:cubicBezTo>
                  <a:lnTo>
                    <a:pt x="6731" y="1574034"/>
                  </a:lnTo>
                  <a:cubicBezTo>
                    <a:pt x="3048" y="1574034"/>
                    <a:pt x="0" y="1570986"/>
                    <a:pt x="0" y="156730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567303"/>
                  </a:lnTo>
                  <a:lnTo>
                    <a:pt x="6731" y="1567303"/>
                  </a:lnTo>
                  <a:lnTo>
                    <a:pt x="6731" y="1560572"/>
                  </a:lnTo>
                  <a:lnTo>
                    <a:pt x="9110091" y="1560572"/>
                  </a:lnTo>
                  <a:lnTo>
                    <a:pt x="9110091" y="1567303"/>
                  </a:lnTo>
                  <a:lnTo>
                    <a:pt x="9103360" y="1567303"/>
                  </a:lnTo>
                  <a:lnTo>
                    <a:pt x="9103360" y="6731"/>
                  </a:lnTo>
                  <a:lnTo>
                    <a:pt x="9110091" y="6731"/>
                  </a:lnTo>
                  <a:lnTo>
                    <a:pt x="91100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116911" cy="1583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Comparison Table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Country A vs Country B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7034" y="527830"/>
            <a:ext cx="6110867" cy="740440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368620" y="249669"/>
            <a:ext cx="20166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 Chart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891" y="-35601"/>
            <a:ext cx="375701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Grouped Bar Chart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604" y="1037519"/>
            <a:ext cx="5885193" cy="60503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4 – Coalition Builder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52600"/>
            <a:ext cx="8595360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KPIs: Coalition Total Assets, Manpower, Defense Spending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Charts: Stacked bar (contribution), Coalition vs reference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Table: Selected countries summary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Filter: Multi-select countries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3"/>
                </a:lnSpc>
              </a:pPr>
              <a:r>
                <a:rPr lang="en-US" sz="2986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4: Coalition Builder (Multi-Country)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7531" y="1741779"/>
            <a:ext cx="3423923" cy="887984"/>
            <a:chOff x="0" y="0"/>
            <a:chExt cx="4565231" cy="1183979"/>
          </a:xfrm>
        </p:grpSpPr>
        <p:sp>
          <p:nvSpPr>
            <p:cNvPr id="6" name="Freeform 6"/>
            <p:cNvSpPr/>
            <p:nvPr/>
          </p:nvSpPr>
          <p:spPr>
            <a:xfrm>
              <a:off x="6731" y="6731"/>
              <a:ext cx="4551680" cy="1170428"/>
            </a:xfrm>
            <a:custGeom>
              <a:avLst/>
              <a:gdLst/>
              <a:ahLst/>
              <a:cxnLst/>
              <a:rect l="l" t="t" r="r" b="b"/>
              <a:pathLst>
                <a:path w="4551680" h="1170428">
                  <a:moveTo>
                    <a:pt x="0" y="0"/>
                  </a:moveTo>
                  <a:lnTo>
                    <a:pt x="4551680" y="0"/>
                  </a:lnTo>
                  <a:lnTo>
                    <a:pt x="4551680" y="1170428"/>
                  </a:lnTo>
                  <a:lnTo>
                    <a:pt x="0" y="117042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565142" cy="1183890"/>
            </a:xfrm>
            <a:custGeom>
              <a:avLst/>
              <a:gdLst/>
              <a:ahLst/>
              <a:cxnLst/>
              <a:rect l="l" t="t" r="r" b="b"/>
              <a:pathLst>
                <a:path w="4565142" h="1183890">
                  <a:moveTo>
                    <a:pt x="6731" y="0"/>
                  </a:moveTo>
                  <a:lnTo>
                    <a:pt x="4558411" y="0"/>
                  </a:lnTo>
                  <a:cubicBezTo>
                    <a:pt x="4562094" y="0"/>
                    <a:pt x="4565142" y="3048"/>
                    <a:pt x="4565142" y="6731"/>
                  </a:cubicBezTo>
                  <a:lnTo>
                    <a:pt x="4565142" y="1177159"/>
                  </a:lnTo>
                  <a:cubicBezTo>
                    <a:pt x="4565142" y="1180842"/>
                    <a:pt x="4562094" y="1183890"/>
                    <a:pt x="4558411" y="1183890"/>
                  </a:cubicBezTo>
                  <a:lnTo>
                    <a:pt x="6731" y="1183890"/>
                  </a:lnTo>
                  <a:cubicBezTo>
                    <a:pt x="3048" y="1183890"/>
                    <a:pt x="0" y="1180842"/>
                    <a:pt x="0" y="117715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77159"/>
                  </a:lnTo>
                  <a:lnTo>
                    <a:pt x="6731" y="1177159"/>
                  </a:lnTo>
                  <a:lnTo>
                    <a:pt x="6731" y="1170428"/>
                  </a:lnTo>
                  <a:lnTo>
                    <a:pt x="4558411" y="1170428"/>
                  </a:lnTo>
                  <a:lnTo>
                    <a:pt x="4558411" y="1177159"/>
                  </a:lnTo>
                  <a:lnTo>
                    <a:pt x="4551680" y="1177159"/>
                  </a:lnTo>
                  <a:lnTo>
                    <a:pt x="4551680" y="6731"/>
                  </a:lnTo>
                  <a:lnTo>
                    <a:pt x="4558411" y="6731"/>
                  </a:lnTo>
                  <a:lnTo>
                    <a:pt x="455841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4565231" cy="119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Multi-Select Filter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Select Countries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96363" y="1738207"/>
            <a:ext cx="1960883" cy="887984"/>
            <a:chOff x="0" y="0"/>
            <a:chExt cx="2614511" cy="1183979"/>
          </a:xfrm>
        </p:grpSpPr>
        <p:sp>
          <p:nvSpPr>
            <p:cNvPr id="10" name="Freeform 10"/>
            <p:cNvSpPr/>
            <p:nvPr/>
          </p:nvSpPr>
          <p:spPr>
            <a:xfrm>
              <a:off x="6731" y="6731"/>
              <a:ext cx="2600960" cy="1170428"/>
            </a:xfrm>
            <a:custGeom>
              <a:avLst/>
              <a:gdLst/>
              <a:ahLst/>
              <a:cxnLst/>
              <a:rect l="l" t="t" r="r" b="b"/>
              <a:pathLst>
                <a:path w="2600960" h="1170428">
                  <a:moveTo>
                    <a:pt x="0" y="0"/>
                  </a:moveTo>
                  <a:lnTo>
                    <a:pt x="2600960" y="0"/>
                  </a:lnTo>
                  <a:lnTo>
                    <a:pt x="2600960" y="1170428"/>
                  </a:lnTo>
                  <a:lnTo>
                    <a:pt x="0" y="117042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2614422" cy="1183890"/>
            </a:xfrm>
            <a:custGeom>
              <a:avLst/>
              <a:gdLst/>
              <a:ahLst/>
              <a:cxnLst/>
              <a:rect l="l" t="t" r="r" b="b"/>
              <a:pathLst>
                <a:path w="2614422" h="1183890">
                  <a:moveTo>
                    <a:pt x="6731" y="0"/>
                  </a:moveTo>
                  <a:lnTo>
                    <a:pt x="2607691" y="0"/>
                  </a:lnTo>
                  <a:cubicBezTo>
                    <a:pt x="2611374" y="0"/>
                    <a:pt x="2614422" y="3048"/>
                    <a:pt x="2614422" y="6731"/>
                  </a:cubicBezTo>
                  <a:lnTo>
                    <a:pt x="2614422" y="1177159"/>
                  </a:lnTo>
                  <a:cubicBezTo>
                    <a:pt x="2614422" y="1180842"/>
                    <a:pt x="2611374" y="1183890"/>
                    <a:pt x="2607691" y="1183890"/>
                  </a:cubicBezTo>
                  <a:lnTo>
                    <a:pt x="6731" y="1183890"/>
                  </a:lnTo>
                  <a:cubicBezTo>
                    <a:pt x="3048" y="1183890"/>
                    <a:pt x="0" y="1180842"/>
                    <a:pt x="0" y="117715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77159"/>
                  </a:lnTo>
                  <a:lnTo>
                    <a:pt x="6731" y="1177159"/>
                  </a:lnTo>
                  <a:lnTo>
                    <a:pt x="6731" y="1170428"/>
                  </a:lnTo>
                  <a:lnTo>
                    <a:pt x="2607691" y="1170428"/>
                  </a:lnTo>
                  <a:lnTo>
                    <a:pt x="2607691" y="1177159"/>
                  </a:lnTo>
                  <a:lnTo>
                    <a:pt x="2600960" y="1177159"/>
                  </a:lnTo>
                  <a:lnTo>
                    <a:pt x="2600960" y="6731"/>
                  </a:lnTo>
                  <a:lnTo>
                    <a:pt x="2607691" y="6731"/>
                  </a:lnTo>
                  <a:lnTo>
                    <a:pt x="26076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614511" cy="119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Total Assets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44612" y="1731063"/>
            <a:ext cx="1960883" cy="887984"/>
            <a:chOff x="0" y="0"/>
            <a:chExt cx="2614511" cy="1183979"/>
          </a:xfrm>
        </p:grpSpPr>
        <p:sp>
          <p:nvSpPr>
            <p:cNvPr id="14" name="Freeform 14"/>
            <p:cNvSpPr/>
            <p:nvPr/>
          </p:nvSpPr>
          <p:spPr>
            <a:xfrm>
              <a:off x="6731" y="6731"/>
              <a:ext cx="2600960" cy="1170428"/>
            </a:xfrm>
            <a:custGeom>
              <a:avLst/>
              <a:gdLst/>
              <a:ahLst/>
              <a:cxnLst/>
              <a:rect l="l" t="t" r="r" b="b"/>
              <a:pathLst>
                <a:path w="2600960" h="1170428">
                  <a:moveTo>
                    <a:pt x="0" y="0"/>
                  </a:moveTo>
                  <a:lnTo>
                    <a:pt x="2600960" y="0"/>
                  </a:lnTo>
                  <a:lnTo>
                    <a:pt x="2600960" y="1170428"/>
                  </a:lnTo>
                  <a:lnTo>
                    <a:pt x="0" y="117042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614422" cy="1183890"/>
            </a:xfrm>
            <a:custGeom>
              <a:avLst/>
              <a:gdLst/>
              <a:ahLst/>
              <a:cxnLst/>
              <a:rect l="l" t="t" r="r" b="b"/>
              <a:pathLst>
                <a:path w="2614422" h="1183890">
                  <a:moveTo>
                    <a:pt x="6731" y="0"/>
                  </a:moveTo>
                  <a:lnTo>
                    <a:pt x="2607691" y="0"/>
                  </a:lnTo>
                  <a:cubicBezTo>
                    <a:pt x="2611374" y="0"/>
                    <a:pt x="2614422" y="3048"/>
                    <a:pt x="2614422" y="6731"/>
                  </a:cubicBezTo>
                  <a:lnTo>
                    <a:pt x="2614422" y="1177159"/>
                  </a:lnTo>
                  <a:cubicBezTo>
                    <a:pt x="2614422" y="1180842"/>
                    <a:pt x="2611374" y="1183890"/>
                    <a:pt x="2607691" y="1183890"/>
                  </a:cubicBezTo>
                  <a:lnTo>
                    <a:pt x="6731" y="1183890"/>
                  </a:lnTo>
                  <a:cubicBezTo>
                    <a:pt x="3048" y="1183890"/>
                    <a:pt x="0" y="1180842"/>
                    <a:pt x="0" y="117715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77159"/>
                  </a:lnTo>
                  <a:lnTo>
                    <a:pt x="6731" y="1177159"/>
                  </a:lnTo>
                  <a:lnTo>
                    <a:pt x="6731" y="1170428"/>
                  </a:lnTo>
                  <a:lnTo>
                    <a:pt x="2607691" y="1170428"/>
                  </a:lnTo>
                  <a:lnTo>
                    <a:pt x="2607691" y="1177159"/>
                  </a:lnTo>
                  <a:lnTo>
                    <a:pt x="2600960" y="1177159"/>
                  </a:lnTo>
                  <a:lnTo>
                    <a:pt x="2600960" y="6731"/>
                  </a:lnTo>
                  <a:lnTo>
                    <a:pt x="2607691" y="6731"/>
                  </a:lnTo>
                  <a:lnTo>
                    <a:pt x="26076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614511" cy="119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Total Manpower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170382" y="1738207"/>
            <a:ext cx="1473203" cy="887984"/>
            <a:chOff x="0" y="0"/>
            <a:chExt cx="1964271" cy="1183979"/>
          </a:xfrm>
        </p:grpSpPr>
        <p:sp>
          <p:nvSpPr>
            <p:cNvPr id="18" name="Freeform 18"/>
            <p:cNvSpPr/>
            <p:nvPr/>
          </p:nvSpPr>
          <p:spPr>
            <a:xfrm>
              <a:off x="6731" y="6731"/>
              <a:ext cx="1950720" cy="1170428"/>
            </a:xfrm>
            <a:custGeom>
              <a:avLst/>
              <a:gdLst/>
              <a:ahLst/>
              <a:cxnLst/>
              <a:rect l="l" t="t" r="r" b="b"/>
              <a:pathLst>
                <a:path w="1950720" h="1170428">
                  <a:moveTo>
                    <a:pt x="0" y="0"/>
                  </a:moveTo>
                  <a:lnTo>
                    <a:pt x="1950720" y="0"/>
                  </a:lnTo>
                  <a:lnTo>
                    <a:pt x="1950720" y="1170428"/>
                  </a:lnTo>
                  <a:lnTo>
                    <a:pt x="0" y="117042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964182" cy="1183890"/>
            </a:xfrm>
            <a:custGeom>
              <a:avLst/>
              <a:gdLst/>
              <a:ahLst/>
              <a:cxnLst/>
              <a:rect l="l" t="t" r="r" b="b"/>
              <a:pathLst>
                <a:path w="1964182" h="1183890">
                  <a:moveTo>
                    <a:pt x="6731" y="0"/>
                  </a:moveTo>
                  <a:lnTo>
                    <a:pt x="1957451" y="0"/>
                  </a:lnTo>
                  <a:cubicBezTo>
                    <a:pt x="1961134" y="0"/>
                    <a:pt x="1964182" y="3048"/>
                    <a:pt x="1964182" y="6731"/>
                  </a:cubicBezTo>
                  <a:lnTo>
                    <a:pt x="1964182" y="1177159"/>
                  </a:lnTo>
                  <a:cubicBezTo>
                    <a:pt x="1964182" y="1180842"/>
                    <a:pt x="1961134" y="1183890"/>
                    <a:pt x="1957451" y="1183890"/>
                  </a:cubicBezTo>
                  <a:lnTo>
                    <a:pt x="6731" y="1183890"/>
                  </a:lnTo>
                  <a:cubicBezTo>
                    <a:pt x="3048" y="1183890"/>
                    <a:pt x="0" y="1180842"/>
                    <a:pt x="0" y="117715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177159"/>
                  </a:lnTo>
                  <a:lnTo>
                    <a:pt x="6731" y="1177159"/>
                  </a:lnTo>
                  <a:lnTo>
                    <a:pt x="6731" y="1170428"/>
                  </a:lnTo>
                  <a:lnTo>
                    <a:pt x="1957451" y="1170428"/>
                  </a:lnTo>
                  <a:lnTo>
                    <a:pt x="1957451" y="1177159"/>
                  </a:lnTo>
                  <a:lnTo>
                    <a:pt x="1950720" y="1177159"/>
                  </a:lnTo>
                  <a:lnTo>
                    <a:pt x="1950720" y="6731"/>
                  </a:lnTo>
                  <a:lnTo>
                    <a:pt x="1957451" y="6731"/>
                  </a:lnTo>
                  <a:lnTo>
                    <a:pt x="195745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964271" cy="1193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KPI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Total Budget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7531" y="2857572"/>
            <a:ext cx="4691891" cy="2155952"/>
            <a:chOff x="0" y="0"/>
            <a:chExt cx="6255855" cy="2874603"/>
          </a:xfrm>
        </p:grpSpPr>
        <p:sp>
          <p:nvSpPr>
            <p:cNvPr id="22" name="Freeform 22"/>
            <p:cNvSpPr/>
            <p:nvPr/>
          </p:nvSpPr>
          <p:spPr>
            <a:xfrm>
              <a:off x="6731" y="6731"/>
              <a:ext cx="6242304" cy="2861052"/>
            </a:xfrm>
            <a:custGeom>
              <a:avLst/>
              <a:gdLst/>
              <a:ahLst/>
              <a:cxnLst/>
              <a:rect l="l" t="t" r="r" b="b"/>
              <a:pathLst>
                <a:path w="6242304" h="2861052">
                  <a:moveTo>
                    <a:pt x="0" y="0"/>
                  </a:moveTo>
                  <a:lnTo>
                    <a:pt x="6242304" y="0"/>
                  </a:lnTo>
                  <a:lnTo>
                    <a:pt x="6242304" y="2861052"/>
                  </a:lnTo>
                  <a:lnTo>
                    <a:pt x="0" y="2861052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6255766" cy="2874514"/>
            </a:xfrm>
            <a:custGeom>
              <a:avLst/>
              <a:gdLst/>
              <a:ahLst/>
              <a:cxnLst/>
              <a:rect l="l" t="t" r="r" b="b"/>
              <a:pathLst>
                <a:path w="6255766" h="2874514">
                  <a:moveTo>
                    <a:pt x="6731" y="0"/>
                  </a:moveTo>
                  <a:lnTo>
                    <a:pt x="6249035" y="0"/>
                  </a:lnTo>
                  <a:cubicBezTo>
                    <a:pt x="6252718" y="0"/>
                    <a:pt x="6255766" y="3048"/>
                    <a:pt x="6255766" y="6731"/>
                  </a:cubicBezTo>
                  <a:lnTo>
                    <a:pt x="6255766" y="2867783"/>
                  </a:lnTo>
                  <a:cubicBezTo>
                    <a:pt x="6255766" y="2871466"/>
                    <a:pt x="6252718" y="2874514"/>
                    <a:pt x="6249035" y="2874514"/>
                  </a:cubicBezTo>
                  <a:lnTo>
                    <a:pt x="6731" y="2874514"/>
                  </a:lnTo>
                  <a:cubicBezTo>
                    <a:pt x="3048" y="2874514"/>
                    <a:pt x="0" y="2871466"/>
                    <a:pt x="0" y="286778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867783"/>
                  </a:lnTo>
                  <a:lnTo>
                    <a:pt x="6731" y="2867783"/>
                  </a:lnTo>
                  <a:lnTo>
                    <a:pt x="6731" y="2861052"/>
                  </a:lnTo>
                  <a:lnTo>
                    <a:pt x="6249035" y="2861052"/>
                  </a:lnTo>
                  <a:lnTo>
                    <a:pt x="6249035" y="2867783"/>
                  </a:lnTo>
                  <a:lnTo>
                    <a:pt x="6242304" y="2867783"/>
                  </a:lnTo>
                  <a:lnTo>
                    <a:pt x="6242304" y="6731"/>
                  </a:lnTo>
                  <a:lnTo>
                    <a:pt x="6249035" y="6731"/>
                  </a:lnTo>
                  <a:lnTo>
                    <a:pt x="6249035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6255855" cy="288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Stacked Bar Chart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Asset Contribution by Country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59217" y="2857572"/>
            <a:ext cx="4479254" cy="2155952"/>
            <a:chOff x="0" y="0"/>
            <a:chExt cx="5995759" cy="2874603"/>
          </a:xfrm>
        </p:grpSpPr>
        <p:sp>
          <p:nvSpPr>
            <p:cNvPr id="26" name="Freeform 26"/>
            <p:cNvSpPr/>
            <p:nvPr/>
          </p:nvSpPr>
          <p:spPr>
            <a:xfrm>
              <a:off x="6731" y="6731"/>
              <a:ext cx="5982208" cy="2861052"/>
            </a:xfrm>
            <a:custGeom>
              <a:avLst/>
              <a:gdLst/>
              <a:ahLst/>
              <a:cxnLst/>
              <a:rect l="l" t="t" r="r" b="b"/>
              <a:pathLst>
                <a:path w="5982208" h="2861052">
                  <a:moveTo>
                    <a:pt x="0" y="0"/>
                  </a:moveTo>
                  <a:lnTo>
                    <a:pt x="5982208" y="0"/>
                  </a:lnTo>
                  <a:lnTo>
                    <a:pt x="5982208" y="2861052"/>
                  </a:lnTo>
                  <a:lnTo>
                    <a:pt x="0" y="2861052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5995670" cy="2874514"/>
            </a:xfrm>
            <a:custGeom>
              <a:avLst/>
              <a:gdLst/>
              <a:ahLst/>
              <a:cxnLst/>
              <a:rect l="l" t="t" r="r" b="b"/>
              <a:pathLst>
                <a:path w="5995670" h="2874514">
                  <a:moveTo>
                    <a:pt x="6731" y="0"/>
                  </a:moveTo>
                  <a:lnTo>
                    <a:pt x="5988939" y="0"/>
                  </a:lnTo>
                  <a:cubicBezTo>
                    <a:pt x="5992622" y="0"/>
                    <a:pt x="5995670" y="3048"/>
                    <a:pt x="5995670" y="6731"/>
                  </a:cubicBezTo>
                  <a:lnTo>
                    <a:pt x="5995670" y="2867783"/>
                  </a:lnTo>
                  <a:cubicBezTo>
                    <a:pt x="5995670" y="2871466"/>
                    <a:pt x="5992622" y="2874514"/>
                    <a:pt x="5988939" y="2874514"/>
                  </a:cubicBezTo>
                  <a:lnTo>
                    <a:pt x="6731" y="2874514"/>
                  </a:lnTo>
                  <a:cubicBezTo>
                    <a:pt x="3048" y="2874514"/>
                    <a:pt x="0" y="2871466"/>
                    <a:pt x="0" y="286778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2867783"/>
                  </a:lnTo>
                  <a:lnTo>
                    <a:pt x="6731" y="2867783"/>
                  </a:lnTo>
                  <a:lnTo>
                    <a:pt x="6731" y="2861052"/>
                  </a:lnTo>
                  <a:lnTo>
                    <a:pt x="5988939" y="2861052"/>
                  </a:lnTo>
                  <a:lnTo>
                    <a:pt x="5988939" y="2867783"/>
                  </a:lnTo>
                  <a:lnTo>
                    <a:pt x="5982208" y="2867783"/>
                  </a:lnTo>
                  <a:lnTo>
                    <a:pt x="5982208" y="6731"/>
                  </a:lnTo>
                  <a:lnTo>
                    <a:pt x="5988939" y="6731"/>
                  </a:lnTo>
                  <a:lnTo>
                    <a:pt x="5988939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995759" cy="2884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Bar Chart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Coalition vs Reference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7531" y="5308231"/>
            <a:ext cx="6350003" cy="1375664"/>
            <a:chOff x="0" y="0"/>
            <a:chExt cx="8466671" cy="1834219"/>
          </a:xfrm>
        </p:grpSpPr>
        <p:sp>
          <p:nvSpPr>
            <p:cNvPr id="30" name="Freeform 30"/>
            <p:cNvSpPr/>
            <p:nvPr/>
          </p:nvSpPr>
          <p:spPr>
            <a:xfrm>
              <a:off x="6731" y="6731"/>
              <a:ext cx="8453120" cy="1820668"/>
            </a:xfrm>
            <a:custGeom>
              <a:avLst/>
              <a:gdLst/>
              <a:ahLst/>
              <a:cxnLst/>
              <a:rect l="l" t="t" r="r" b="b"/>
              <a:pathLst>
                <a:path w="8453120" h="1820668">
                  <a:moveTo>
                    <a:pt x="0" y="0"/>
                  </a:moveTo>
                  <a:lnTo>
                    <a:pt x="8453120" y="0"/>
                  </a:lnTo>
                  <a:lnTo>
                    <a:pt x="8453120" y="1820668"/>
                  </a:lnTo>
                  <a:lnTo>
                    <a:pt x="0" y="1820668"/>
                  </a:lnTo>
                  <a:close/>
                </a:path>
              </a:pathLst>
            </a:custGeom>
            <a:solidFill>
              <a:srgbClr val="DCE6F2"/>
            </a:solidFill>
            <a:ln w="12700">
              <a:solidFill>
                <a:srgbClr val="00000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8466582" cy="1834130"/>
            </a:xfrm>
            <a:custGeom>
              <a:avLst/>
              <a:gdLst/>
              <a:ahLst/>
              <a:cxnLst/>
              <a:rect l="l" t="t" r="r" b="b"/>
              <a:pathLst>
                <a:path w="8466582" h="1834130">
                  <a:moveTo>
                    <a:pt x="6731" y="0"/>
                  </a:moveTo>
                  <a:lnTo>
                    <a:pt x="8459851" y="0"/>
                  </a:lnTo>
                  <a:cubicBezTo>
                    <a:pt x="8463534" y="0"/>
                    <a:pt x="8466582" y="3048"/>
                    <a:pt x="8466582" y="6731"/>
                  </a:cubicBezTo>
                  <a:lnTo>
                    <a:pt x="8466582" y="1827399"/>
                  </a:lnTo>
                  <a:cubicBezTo>
                    <a:pt x="8466582" y="1831082"/>
                    <a:pt x="8463534" y="1834130"/>
                    <a:pt x="8459851" y="1834130"/>
                  </a:cubicBezTo>
                  <a:lnTo>
                    <a:pt x="6731" y="1834130"/>
                  </a:lnTo>
                  <a:cubicBezTo>
                    <a:pt x="3048" y="1834130"/>
                    <a:pt x="0" y="1831082"/>
                    <a:pt x="0" y="182739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827399"/>
                  </a:lnTo>
                  <a:lnTo>
                    <a:pt x="6731" y="1827399"/>
                  </a:lnTo>
                  <a:lnTo>
                    <a:pt x="6731" y="1820668"/>
                  </a:lnTo>
                  <a:lnTo>
                    <a:pt x="8459851" y="1820668"/>
                  </a:lnTo>
                  <a:lnTo>
                    <a:pt x="8459851" y="1827399"/>
                  </a:lnTo>
                  <a:lnTo>
                    <a:pt x="8453120" y="1827399"/>
                  </a:lnTo>
                  <a:lnTo>
                    <a:pt x="8453120" y="6731"/>
                  </a:lnTo>
                  <a:lnTo>
                    <a:pt x="8459851" y="6731"/>
                  </a:lnTo>
                  <a:lnTo>
                    <a:pt x="845985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03459"/>
            </a:solidFill>
            <a:ln w="12700">
              <a:solidFill>
                <a:srgbClr val="00000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8466671" cy="1843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 dirty="0">
                  <a:solidFill>
                    <a:srgbClr val="289DD2"/>
                  </a:solidFill>
                  <a:latin typeface="Barlow"/>
                  <a:ea typeface="Barlow"/>
                  <a:cs typeface="Barlow"/>
                  <a:sym typeface="Barlow"/>
                </a:rPr>
                <a:t>Table</a:t>
              </a:r>
            </a:p>
            <a:p>
              <a:pPr algn="ctr">
                <a:lnSpc>
                  <a:spcPts val="2304"/>
                </a:lnSpc>
              </a:pPr>
              <a:r>
                <a:rPr lang="en-US" sz="1920" b="1" dirty="0">
                  <a:solidFill>
                    <a:srgbClr val="289DD2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Selected Countries Summary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109965" y="5597267"/>
            <a:ext cx="2155955" cy="790448"/>
            <a:chOff x="0" y="0"/>
            <a:chExt cx="2874607" cy="1053931"/>
          </a:xfrm>
        </p:grpSpPr>
        <p:sp>
          <p:nvSpPr>
            <p:cNvPr id="34" name="Freeform 34"/>
            <p:cNvSpPr/>
            <p:nvPr/>
          </p:nvSpPr>
          <p:spPr>
            <a:xfrm>
              <a:off x="6731" y="6731"/>
              <a:ext cx="2861183" cy="1040380"/>
            </a:xfrm>
            <a:custGeom>
              <a:avLst/>
              <a:gdLst/>
              <a:ahLst/>
              <a:cxnLst/>
              <a:rect l="l" t="t" r="r" b="b"/>
              <a:pathLst>
                <a:path w="2861183" h="1040380">
                  <a:moveTo>
                    <a:pt x="0" y="173481"/>
                  </a:moveTo>
                  <a:cubicBezTo>
                    <a:pt x="0" y="77724"/>
                    <a:pt x="78359" y="0"/>
                    <a:pt x="174879" y="0"/>
                  </a:cubicBezTo>
                  <a:lnTo>
                    <a:pt x="2686304" y="0"/>
                  </a:lnTo>
                  <a:cubicBezTo>
                    <a:pt x="2782824" y="0"/>
                    <a:pt x="2861183" y="77597"/>
                    <a:pt x="2861183" y="173354"/>
                  </a:cubicBezTo>
                  <a:lnTo>
                    <a:pt x="2861183" y="867026"/>
                  </a:lnTo>
                  <a:cubicBezTo>
                    <a:pt x="2861183" y="962783"/>
                    <a:pt x="2782951" y="1040380"/>
                    <a:pt x="2686304" y="1040380"/>
                  </a:cubicBezTo>
                  <a:lnTo>
                    <a:pt x="174879" y="1040380"/>
                  </a:lnTo>
                  <a:cubicBezTo>
                    <a:pt x="78359" y="1040380"/>
                    <a:pt x="0" y="962783"/>
                    <a:pt x="0" y="867026"/>
                  </a:cubicBezTo>
                  <a:close/>
                </a:path>
              </a:pathLst>
            </a:custGeom>
            <a:solidFill>
              <a:srgbClr val="5A8CDC"/>
            </a:solidFill>
            <a:ln w="12700">
              <a:solidFill>
                <a:srgbClr val="00000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2874645" cy="1053969"/>
            </a:xfrm>
            <a:custGeom>
              <a:avLst/>
              <a:gdLst/>
              <a:ahLst/>
              <a:cxnLst/>
              <a:rect l="l" t="t" r="r" b="b"/>
              <a:pathLst>
                <a:path w="2874645" h="1053969">
                  <a:moveTo>
                    <a:pt x="0" y="180212"/>
                  </a:moveTo>
                  <a:cubicBezTo>
                    <a:pt x="0" y="80645"/>
                    <a:pt x="81407" y="0"/>
                    <a:pt x="181610" y="0"/>
                  </a:cubicBezTo>
                  <a:lnTo>
                    <a:pt x="2693035" y="0"/>
                  </a:lnTo>
                  <a:lnTo>
                    <a:pt x="2693035" y="6731"/>
                  </a:lnTo>
                  <a:lnTo>
                    <a:pt x="2693035" y="0"/>
                  </a:lnTo>
                  <a:cubicBezTo>
                    <a:pt x="2793238" y="0"/>
                    <a:pt x="2874645" y="80645"/>
                    <a:pt x="2874645" y="180212"/>
                  </a:cubicBezTo>
                  <a:lnTo>
                    <a:pt x="2867914" y="180212"/>
                  </a:lnTo>
                  <a:lnTo>
                    <a:pt x="2874645" y="180212"/>
                  </a:lnTo>
                  <a:lnTo>
                    <a:pt x="2874645" y="873757"/>
                  </a:lnTo>
                  <a:lnTo>
                    <a:pt x="2867914" y="873757"/>
                  </a:lnTo>
                  <a:lnTo>
                    <a:pt x="2874645" y="873757"/>
                  </a:lnTo>
                  <a:cubicBezTo>
                    <a:pt x="2874645" y="973324"/>
                    <a:pt x="2793238" y="1053969"/>
                    <a:pt x="2693035" y="1053969"/>
                  </a:cubicBezTo>
                  <a:lnTo>
                    <a:pt x="2693035" y="1047238"/>
                  </a:lnTo>
                  <a:lnTo>
                    <a:pt x="2693035" y="1053969"/>
                  </a:lnTo>
                  <a:lnTo>
                    <a:pt x="181610" y="1053969"/>
                  </a:lnTo>
                  <a:lnTo>
                    <a:pt x="181610" y="1047238"/>
                  </a:lnTo>
                  <a:lnTo>
                    <a:pt x="181610" y="1053969"/>
                  </a:lnTo>
                  <a:cubicBezTo>
                    <a:pt x="81407" y="1053969"/>
                    <a:pt x="0" y="973324"/>
                    <a:pt x="0" y="873757"/>
                  </a:cubicBezTo>
                  <a:lnTo>
                    <a:pt x="0" y="180212"/>
                  </a:lnTo>
                  <a:lnTo>
                    <a:pt x="6731" y="180212"/>
                  </a:lnTo>
                  <a:lnTo>
                    <a:pt x="0" y="180212"/>
                  </a:lnTo>
                  <a:moveTo>
                    <a:pt x="13589" y="180212"/>
                  </a:moveTo>
                  <a:lnTo>
                    <a:pt x="13589" y="873757"/>
                  </a:lnTo>
                  <a:lnTo>
                    <a:pt x="6731" y="873757"/>
                  </a:lnTo>
                  <a:lnTo>
                    <a:pt x="13462" y="873757"/>
                  </a:lnTo>
                  <a:cubicBezTo>
                    <a:pt x="13462" y="965704"/>
                    <a:pt x="88646" y="1040380"/>
                    <a:pt x="181483" y="1040380"/>
                  </a:cubicBezTo>
                  <a:lnTo>
                    <a:pt x="2693035" y="1040380"/>
                  </a:lnTo>
                  <a:cubicBezTo>
                    <a:pt x="2785872" y="1040380"/>
                    <a:pt x="2861056" y="965704"/>
                    <a:pt x="2861056" y="873757"/>
                  </a:cubicBezTo>
                  <a:lnTo>
                    <a:pt x="2861056" y="180212"/>
                  </a:lnTo>
                  <a:cubicBezTo>
                    <a:pt x="2861056" y="88265"/>
                    <a:pt x="2785872" y="13589"/>
                    <a:pt x="2693035" y="13589"/>
                  </a:cubicBezTo>
                  <a:lnTo>
                    <a:pt x="181610" y="13589"/>
                  </a:lnTo>
                  <a:lnTo>
                    <a:pt x="181610" y="6731"/>
                  </a:lnTo>
                  <a:lnTo>
                    <a:pt x="181610" y="13462"/>
                  </a:lnTo>
                  <a:cubicBezTo>
                    <a:pt x="88773" y="13589"/>
                    <a:pt x="13589" y="88138"/>
                    <a:pt x="13589" y="180212"/>
                  </a:cubicBezTo>
                  <a:close/>
                </a:path>
              </a:pathLst>
            </a:custGeom>
            <a:solidFill>
              <a:srgbClr val="5A8CDC"/>
            </a:solidFill>
            <a:ln w="12700">
              <a:solidFill>
                <a:srgbClr val="00000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2874607" cy="1063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  <a:r>
                <a:rPr lang="en-US" sz="1279" spc="5">
                  <a:solidFill>
                    <a:srgbClr val="F7F7F7"/>
                  </a:solidFill>
                  <a:latin typeface="Barlow"/>
                  <a:ea typeface="Barlow"/>
                  <a:cs typeface="Barlow"/>
                  <a:sym typeface="Barlow"/>
                </a:rPr>
                <a:t>Clear Selection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0971" y="813753"/>
            <a:ext cx="6058739" cy="709163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830" y="836165"/>
            <a:ext cx="6058739" cy="70916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306860" y="233363"/>
            <a:ext cx="20166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 Chart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9891" y="-66675"/>
            <a:ext cx="375701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Stacked Bar Chart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65B6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Dashboard Uniqueness &amp; Flow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52600"/>
            <a:ext cx="8595360" cy="411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Quick Stats answers: Who are the strongest globally?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Nation Overview answers: How strong is one country?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Compare Powers answers: Who is stronger and why?</a:t>
            </a:r>
          </a:p>
          <a:p>
            <a:pPr marL="439273" lvl="1" indent="-219637" algn="l">
              <a:lnSpc>
                <a:spcPts val="4095"/>
              </a:lnSpc>
              <a:buFont typeface="Arial"/>
              <a:buChar char="•"/>
            </a:pPr>
            <a:r>
              <a:rPr lang="en-US" sz="3413" b="1">
                <a:solidFill>
                  <a:srgbClr val="365B6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Coalition Builder answers: What if countries combine?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506</Words>
  <Application>Microsoft Office PowerPoint</Application>
  <PresentationFormat>Custom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Canva Sans Bold</vt:lpstr>
      <vt:lpstr>Calibri</vt:lpstr>
      <vt:lpstr>Arial</vt:lpstr>
      <vt:lpstr>Barlow</vt:lpstr>
      <vt:lpstr>Barlow Semi-Bold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Task_4_Visual_Dashboard_Wireframes_Themed.pptx</dc:title>
  <cp:lastModifiedBy>Charu Jain</cp:lastModifiedBy>
  <cp:revision>2</cp:revision>
  <dcterms:created xsi:type="dcterms:W3CDTF">2006-08-16T00:00:00Z</dcterms:created>
  <dcterms:modified xsi:type="dcterms:W3CDTF">2026-01-22T06:55:09Z</dcterms:modified>
  <dc:identifier>DAG_EKS926k</dc:identifier>
</cp:coreProperties>
</file>